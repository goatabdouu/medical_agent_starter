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70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71" r:id="rId16"/>
    <p:sldId id="272" r:id="rId17"/>
    <p:sldId id="273" r:id="rId18"/>
    <p:sldId id="274" r:id="rId19"/>
    <p:sldId id="275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43B4750-6027-6734-CE74-A339894B1987}" v="890" dt="2026-03-31T02:40:45.479"/>
    <p1510:client id="{B525A090-9767-BA01-C2F3-F7D7300407E0}" v="509" dt="2026-03-31T02:14:04.19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91440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00D2FF"/>
                </a:solidFill>
                <a:latin typeface="Calibri"/>
              </a:defRPr>
            </a:pPr>
            <a:r>
              <a:t>🏥 Medical Vision AI Agent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1945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FFFFFF"/>
                </a:solidFill>
                <a:latin typeface="Calibri"/>
              </a:defRPr>
            </a:pPr>
            <a:r>
              <a:t>Skin Disease Classification with Deep Learning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AAAAAA"/>
                </a:solidFill>
                <a:latin typeface="Calibri"/>
              </a:defRPr>
            </a:pPr>
            <a:r>
              <a:t>MobileNetV2  •  Transfer Learning  •  Streamlit UI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0"/>
            <a:ext cx="8229600" cy="52322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>
              <a:defRPr sz="1400" b="0">
                <a:solidFill>
                  <a:srgbClr val="AAAAAA"/>
                </a:solidFill>
                <a:latin typeface="Calibri"/>
              </a:defRPr>
            </a:pPr>
            <a:r>
              <a:rPr lang="en-US"/>
              <a:t>EL FELSOUFI Abderrahmane</a:t>
            </a:r>
            <a:endParaRPr lang="en-US">
              <a:ea typeface="Calibri"/>
              <a:cs typeface="Calibri"/>
            </a:endParaRPr>
          </a:p>
          <a:p>
            <a:pPr algn="ctr">
              <a:defRPr sz="1400" b="0">
                <a:solidFill>
                  <a:srgbClr val="AAAAAA"/>
                </a:solidFill>
                <a:latin typeface="Calibri"/>
              </a:defRPr>
            </a:pPr>
            <a:r>
              <a:rPr lang="en-US">
                <a:ea typeface="Calibri"/>
                <a:cs typeface="Calibri"/>
              </a:rPr>
              <a:t>BOUTAYEB Fadi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AAAAAA"/>
                </a:solidFill>
                <a:latin typeface="Calibri"/>
              </a:defRPr>
            </a:pPr>
            <a:r>
              <a:t>1/14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58477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defRPr sz="3200" b="1">
                <a:solidFill>
                  <a:srgbClr val="00D2FF"/>
                </a:solidFill>
                <a:latin typeface="Calibri"/>
              </a:defRPr>
            </a:pPr>
            <a:r>
              <a:rPr lang="en-GB"/>
              <a:t>                                 </a:t>
            </a:r>
            <a:r>
              <a:rPr lang="en-GB" err="1"/>
              <a:t>Sommaire</a:t>
            </a:r>
            <a:endParaRPr lang="en-GB" err="1">
              <a:ea typeface="Calibri"/>
              <a:cs typeface="Calibri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7772400" cy="432426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rPr dirty="0"/>
              <a:t>1.  Page de </a:t>
            </a:r>
            <a:r>
              <a:rPr lang="en-US" dirty="0" err="1"/>
              <a:t>titre</a:t>
            </a:r>
            <a:endParaRPr lang="en-US" dirty="0" err="1">
              <a:ea typeface="Calibri"/>
              <a:cs typeface="Calibri"/>
            </a:endParaRP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rPr dirty="0"/>
              <a:t>2.  </a:t>
            </a:r>
            <a:r>
              <a:rPr lang="en-US" dirty="0" err="1"/>
              <a:t>Sommaire</a:t>
            </a:r>
            <a:endParaRPr lang="en-US" dirty="0" err="1">
              <a:ea typeface="Calibri"/>
              <a:cs typeface="Calibri"/>
            </a:endParaRP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3.  Choix du Dataset </a:t>
            </a:r>
            <a:endParaRPr lang="en-US">
              <a:ea typeface="Calibri"/>
              <a:cs typeface="Calibri"/>
            </a:endParaRP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4.  Dataset Kaggle — 10 classes &amp; distribution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rPr dirty="0"/>
              <a:t>5.  Pipeline </a:t>
            </a:r>
            <a:r>
              <a:rPr lang="en-US" dirty="0" err="1"/>
              <a:t>d'images</a:t>
            </a:r>
            <a:r>
              <a:rPr dirty="0"/>
              <a:t> — Augmentation &amp; </a:t>
            </a:r>
            <a:r>
              <a:rPr lang="en-US" dirty="0" err="1"/>
              <a:t>Inférence</a:t>
            </a:r>
            <a:endParaRPr lang="en-US" dirty="0" err="1">
              <a:ea typeface="Calibri"/>
              <a:cs typeface="Calibri"/>
            </a:endParaRP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rPr dirty="0"/>
              <a:t>6.  Architecture du </a:t>
            </a:r>
            <a:r>
              <a:rPr lang="en-US" dirty="0" err="1"/>
              <a:t>modèle</a:t>
            </a:r>
            <a:r>
              <a:rPr dirty="0"/>
              <a:t> — MobileNetV2</a:t>
            </a:r>
            <a:r>
              <a:rPr lang="en-US" dirty="0"/>
              <a:t>/</a:t>
            </a:r>
            <a:r>
              <a:rPr lang="en-US" dirty="0" err="1"/>
              <a:t>ResNet</a:t>
            </a:r>
            <a:r>
              <a:rPr lang="en-US" dirty="0"/>
              <a:t>/</a:t>
            </a:r>
            <a:r>
              <a:rPr lang="en-US" dirty="0" err="1"/>
              <a:t>EfficcientNet</a:t>
            </a:r>
            <a:endParaRPr lang="en-US" dirty="0" err="1">
              <a:ea typeface="Calibri"/>
              <a:cs typeface="Calibri"/>
            </a:endParaRP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7.  Transfer Learning — 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8.  Classification Head — 1280→</a:t>
            </a:r>
            <a:r>
              <a:rPr lang="en-US"/>
              <a:t>10</a:t>
            </a:r>
            <a:endParaRPr/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rPr dirty="0"/>
              <a:t>9.  </a:t>
            </a:r>
            <a:r>
              <a:rPr lang="en-US" dirty="0" err="1"/>
              <a:t>Entraînement</a:t>
            </a:r>
            <a:r>
              <a:rPr dirty="0"/>
              <a:t> — </a:t>
            </a:r>
            <a:endParaRPr lang="en-US" dirty="0">
              <a:ea typeface="Calibri"/>
              <a:cs typeface="Calibri"/>
            </a:endParaRP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rPr dirty="0"/>
              <a:t>10. Gestion du </a:t>
            </a:r>
            <a:r>
              <a:rPr lang="en-US" dirty="0" err="1"/>
              <a:t>déséquilibre</a:t>
            </a:r>
            <a:r>
              <a:rPr dirty="0"/>
              <a:t> des classes</a:t>
            </a:r>
            <a:endParaRPr lang="en-US" dirty="0">
              <a:ea typeface="Calibri"/>
              <a:cs typeface="Calibri"/>
            </a:endParaRP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rPr dirty="0"/>
              <a:t>11. </a:t>
            </a:r>
            <a:r>
              <a:rPr lang="en-US" dirty="0" err="1"/>
              <a:t>Classificateur</a:t>
            </a:r>
            <a:r>
              <a:rPr dirty="0"/>
              <a:t> &amp; </a:t>
            </a:r>
            <a:r>
              <a:rPr lang="en-US" dirty="0" err="1"/>
              <a:t>Inférence</a:t>
            </a:r>
            <a:endParaRPr lang="en-US" dirty="0" err="1">
              <a:ea typeface="Calibri"/>
              <a:cs typeface="Calibri"/>
            </a:endParaRP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rPr dirty="0"/>
              <a:t>12. </a:t>
            </a:r>
            <a:r>
              <a:rPr lang="en-US" dirty="0" err="1"/>
              <a:t>Intégration</a:t>
            </a:r>
            <a:r>
              <a:rPr dirty="0"/>
              <a:t> </a:t>
            </a:r>
            <a:r>
              <a:rPr lang="en-US" dirty="0" err="1"/>
              <a:t>Streamlit</a:t>
            </a:r>
            <a:r>
              <a:rPr dirty="0"/>
              <a:t> — Onglet Peau</a:t>
            </a:r>
            <a:endParaRPr lang="en-US" dirty="0">
              <a:ea typeface="Calibri"/>
              <a:cs typeface="Calibri"/>
            </a:endParaRP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rPr dirty="0"/>
              <a:t>13. </a:t>
            </a:r>
            <a:r>
              <a:rPr lang="en-US" dirty="0" err="1"/>
              <a:t>Résultats</a:t>
            </a:r>
            <a:r>
              <a:rPr dirty="0"/>
              <a:t> </a:t>
            </a:r>
            <a:r>
              <a:rPr lang="en-US" dirty="0" err="1"/>
              <a:t>attendus</a:t>
            </a:r>
            <a:r>
              <a:rPr dirty="0"/>
              <a:t> &amp; </a:t>
            </a:r>
            <a:r>
              <a:rPr lang="en-US" dirty="0" err="1"/>
              <a:t>Métriques</a:t>
            </a:r>
            <a:endParaRPr lang="en-US" dirty="0" err="1">
              <a:ea typeface="Calibri"/>
              <a:cs typeface="Calibri"/>
            </a:endParaRP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14. Conclusion &amp; Perspectives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AAAAAA"/>
                </a:solidFill>
                <a:latin typeface="Calibri"/>
              </a:defRPr>
            </a:pPr>
            <a:r>
              <a:t>2/14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D2FF"/>
                </a:solidFill>
                <a:latin typeface="Calibri"/>
              </a:defRPr>
            </a:pPr>
            <a:r>
              <a:t>3 — Choix du Dataset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828800"/>
            <a:ext cx="7569199" cy="4172226"/>
          </a:xfrm>
          <a:prstGeom prst="roundRect">
            <a:avLst/>
          </a:prstGeom>
          <a:solidFill>
            <a:srgbClr val="27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88720" y="2103120"/>
            <a:ext cx="6766560" cy="332398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defRPr sz="1800" b="0">
                <a:solidFill>
                  <a:srgbClr val="FFD32A"/>
                </a:solidFill>
                <a:latin typeface="Calibri"/>
              </a:defRPr>
            </a:pPr>
            <a:r>
              <a:rPr lang="en-GB"/>
              <a:t>  </a:t>
            </a:r>
            <a:r>
              <a:t>• </a:t>
            </a:r>
            <a:r>
              <a:rPr err="1"/>
              <a:t>Pourquoi</a:t>
            </a:r>
            <a:r>
              <a:t> </a:t>
            </a:r>
            <a:r>
              <a:rPr err="1"/>
              <a:t>ce</a:t>
            </a:r>
            <a:r>
              <a:t> dataset ?</a:t>
            </a:r>
            <a:endParaRPr lang="en-US"/>
          </a:p>
          <a:p>
            <a:pPr>
              <a:defRPr sz="1800" b="0">
                <a:solidFill>
                  <a:srgbClr val="FFD32A"/>
                </a:solidFill>
                <a:latin typeface="Calibri"/>
              </a:defRPr>
            </a:pPr>
            <a:r>
              <a:rPr lang="en-US" sz="1200" err="1">
                <a:solidFill>
                  <a:schemeClr val="bg1"/>
                </a:solidFill>
                <a:ea typeface="+mn-lt"/>
                <a:cs typeface="+mn-lt"/>
              </a:rPr>
              <a:t>J’ai</a:t>
            </a:r>
            <a:r>
              <a:rPr lang="en-US" sz="120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1200" err="1">
                <a:solidFill>
                  <a:schemeClr val="bg1"/>
                </a:solidFill>
                <a:ea typeface="+mn-lt"/>
                <a:cs typeface="+mn-lt"/>
              </a:rPr>
              <a:t>choisi</a:t>
            </a:r>
            <a:r>
              <a:rPr lang="en-US" sz="120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1200" err="1">
                <a:solidFill>
                  <a:schemeClr val="bg1"/>
                </a:solidFill>
                <a:ea typeface="+mn-lt"/>
                <a:cs typeface="+mn-lt"/>
              </a:rPr>
              <a:t>ce</a:t>
            </a:r>
            <a:r>
              <a:rPr lang="en-US" sz="1200">
                <a:solidFill>
                  <a:schemeClr val="bg1"/>
                </a:solidFill>
                <a:ea typeface="+mn-lt"/>
                <a:cs typeface="+mn-lt"/>
              </a:rPr>
              <a:t> dataset car il </a:t>
            </a:r>
            <a:r>
              <a:rPr lang="en-US" sz="1200" err="1">
                <a:solidFill>
                  <a:schemeClr val="bg1"/>
                </a:solidFill>
                <a:ea typeface="+mn-lt"/>
                <a:cs typeface="+mn-lt"/>
              </a:rPr>
              <a:t>contient</a:t>
            </a:r>
            <a:r>
              <a:rPr lang="en-US" sz="1200">
                <a:solidFill>
                  <a:schemeClr val="bg1"/>
                </a:solidFill>
                <a:ea typeface="+mn-lt"/>
                <a:cs typeface="+mn-lt"/>
              </a:rPr>
              <a:t> un grand </a:t>
            </a:r>
            <a:r>
              <a:rPr lang="en-US" sz="1200" err="1">
                <a:solidFill>
                  <a:schemeClr val="bg1"/>
                </a:solidFill>
                <a:ea typeface="+mn-lt"/>
                <a:cs typeface="+mn-lt"/>
              </a:rPr>
              <a:t>nombre</a:t>
            </a:r>
            <a:r>
              <a:rPr lang="en-US" sz="120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1200" err="1">
                <a:solidFill>
                  <a:schemeClr val="bg1"/>
                </a:solidFill>
                <a:ea typeface="+mn-lt"/>
                <a:cs typeface="+mn-lt"/>
              </a:rPr>
              <a:t>d’images</a:t>
            </a:r>
            <a:r>
              <a:rPr lang="en-US" sz="120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1200" err="1">
                <a:solidFill>
                  <a:schemeClr val="bg1"/>
                </a:solidFill>
                <a:ea typeface="+mn-lt"/>
                <a:cs typeface="+mn-lt"/>
              </a:rPr>
              <a:t>annotées</a:t>
            </a:r>
            <a:r>
              <a:rPr lang="en-US" sz="1200">
                <a:solidFill>
                  <a:schemeClr val="bg1"/>
                </a:solidFill>
                <a:ea typeface="+mn-lt"/>
                <a:cs typeface="+mn-lt"/>
              </a:rPr>
              <a:t> de maladies </a:t>
            </a:r>
            <a:r>
              <a:rPr lang="en-US" sz="1200" err="1">
                <a:solidFill>
                  <a:schemeClr val="bg1"/>
                </a:solidFill>
                <a:ea typeface="+mn-lt"/>
                <a:cs typeface="+mn-lt"/>
              </a:rPr>
              <a:t>dermatologiques</a:t>
            </a:r>
            <a:r>
              <a:rPr lang="en-US" sz="1200">
                <a:solidFill>
                  <a:schemeClr val="bg1"/>
                </a:solidFill>
                <a:ea typeface="+mn-lt"/>
                <a:cs typeface="+mn-lt"/>
              </a:rPr>
              <a:t>, </a:t>
            </a:r>
            <a:r>
              <a:rPr lang="en-US" sz="1200" err="1">
                <a:solidFill>
                  <a:schemeClr val="bg1"/>
                </a:solidFill>
                <a:ea typeface="+mn-lt"/>
                <a:cs typeface="+mn-lt"/>
              </a:rPr>
              <a:t>ce</a:t>
            </a:r>
            <a:r>
              <a:rPr lang="en-US" sz="1200">
                <a:solidFill>
                  <a:schemeClr val="bg1"/>
                </a:solidFill>
                <a:ea typeface="+mn-lt"/>
                <a:cs typeface="+mn-lt"/>
              </a:rPr>
              <a:t> qui est </a:t>
            </a:r>
            <a:r>
              <a:rPr lang="en-US" sz="1200" err="1">
                <a:solidFill>
                  <a:schemeClr val="bg1"/>
                </a:solidFill>
                <a:ea typeface="+mn-lt"/>
                <a:cs typeface="+mn-lt"/>
              </a:rPr>
              <a:t>essentiel</a:t>
            </a:r>
            <a:r>
              <a:rPr lang="en-US" sz="1200">
                <a:solidFill>
                  <a:schemeClr val="bg1"/>
                </a:solidFill>
                <a:ea typeface="+mn-lt"/>
                <a:cs typeface="+mn-lt"/>
              </a:rPr>
              <a:t> pour </a:t>
            </a:r>
            <a:r>
              <a:rPr lang="en-US" sz="1200" err="1">
                <a:solidFill>
                  <a:schemeClr val="bg1"/>
                </a:solidFill>
                <a:ea typeface="+mn-lt"/>
                <a:cs typeface="+mn-lt"/>
              </a:rPr>
              <a:t>entraîner</a:t>
            </a:r>
            <a:r>
              <a:rPr lang="en-US" sz="1200">
                <a:solidFill>
                  <a:schemeClr val="bg1"/>
                </a:solidFill>
                <a:ea typeface="+mn-lt"/>
                <a:cs typeface="+mn-lt"/>
              </a:rPr>
              <a:t> un </a:t>
            </a:r>
            <a:r>
              <a:rPr lang="en-US" sz="1200" err="1">
                <a:solidFill>
                  <a:schemeClr val="bg1"/>
                </a:solidFill>
                <a:ea typeface="+mn-lt"/>
                <a:cs typeface="+mn-lt"/>
              </a:rPr>
              <a:t>modèle</a:t>
            </a:r>
            <a:r>
              <a:rPr lang="en-US" sz="1200">
                <a:solidFill>
                  <a:schemeClr val="bg1"/>
                </a:solidFill>
                <a:ea typeface="+mn-lt"/>
                <a:cs typeface="+mn-lt"/>
              </a:rPr>
              <a:t> de classification </a:t>
            </a:r>
            <a:r>
              <a:rPr lang="en-US" sz="1200" err="1">
                <a:solidFill>
                  <a:schemeClr val="bg1"/>
                </a:solidFill>
                <a:ea typeface="+mn-lt"/>
                <a:cs typeface="+mn-lt"/>
              </a:rPr>
              <a:t>fiable</a:t>
            </a:r>
            <a:r>
              <a:rPr lang="en-US" sz="1200">
                <a:solidFill>
                  <a:schemeClr val="bg1"/>
                </a:solidFill>
                <a:ea typeface="+mn-lt"/>
                <a:cs typeface="+mn-lt"/>
              </a:rPr>
              <a:t>. Il est </a:t>
            </a:r>
            <a:r>
              <a:rPr lang="en-US" sz="1200" err="1">
                <a:solidFill>
                  <a:schemeClr val="bg1"/>
                </a:solidFill>
                <a:ea typeface="+mn-lt"/>
                <a:cs typeface="+mn-lt"/>
              </a:rPr>
              <a:t>aussi</a:t>
            </a:r>
            <a:r>
              <a:rPr lang="en-US" sz="120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1200" err="1">
                <a:solidFill>
                  <a:schemeClr val="bg1"/>
                </a:solidFill>
                <a:ea typeface="+mn-lt"/>
                <a:cs typeface="+mn-lt"/>
              </a:rPr>
              <a:t>relativement</a:t>
            </a:r>
            <a:r>
              <a:rPr lang="en-US" sz="1200">
                <a:solidFill>
                  <a:schemeClr val="bg1"/>
                </a:solidFill>
                <a:ea typeface="+mn-lt"/>
                <a:cs typeface="+mn-lt"/>
              </a:rPr>
              <a:t> bien </a:t>
            </a:r>
            <a:r>
              <a:rPr lang="en-US" sz="1200" err="1">
                <a:solidFill>
                  <a:schemeClr val="bg1"/>
                </a:solidFill>
                <a:ea typeface="+mn-lt"/>
                <a:cs typeface="+mn-lt"/>
              </a:rPr>
              <a:t>structuré</a:t>
            </a:r>
            <a:r>
              <a:rPr lang="en-US" sz="1200">
                <a:solidFill>
                  <a:schemeClr val="bg1"/>
                </a:solidFill>
                <a:ea typeface="+mn-lt"/>
                <a:cs typeface="+mn-lt"/>
              </a:rPr>
              <a:t> et </a:t>
            </a:r>
            <a:r>
              <a:rPr lang="en-US" sz="1200" err="1">
                <a:solidFill>
                  <a:schemeClr val="bg1"/>
                </a:solidFill>
                <a:ea typeface="+mn-lt"/>
                <a:cs typeface="+mn-lt"/>
              </a:rPr>
              <a:t>adapté</a:t>
            </a:r>
            <a:r>
              <a:rPr lang="en-US" sz="1200">
                <a:solidFill>
                  <a:schemeClr val="bg1"/>
                </a:solidFill>
                <a:ea typeface="+mn-lt"/>
                <a:cs typeface="+mn-lt"/>
              </a:rPr>
              <a:t> à un </a:t>
            </a:r>
            <a:r>
              <a:rPr lang="en-US" sz="1200" err="1">
                <a:solidFill>
                  <a:schemeClr val="bg1"/>
                </a:solidFill>
                <a:ea typeface="+mn-lt"/>
                <a:cs typeface="+mn-lt"/>
              </a:rPr>
              <a:t>entraînement</a:t>
            </a:r>
            <a:r>
              <a:rPr lang="en-US" sz="1200">
                <a:solidFill>
                  <a:schemeClr val="bg1"/>
                </a:solidFill>
                <a:ea typeface="+mn-lt"/>
                <a:cs typeface="+mn-lt"/>
              </a:rPr>
              <a:t> sur </a:t>
            </a:r>
            <a:r>
              <a:rPr lang="en-US" sz="1200" err="1">
                <a:solidFill>
                  <a:schemeClr val="bg1"/>
                </a:solidFill>
                <a:ea typeface="+mn-lt"/>
                <a:cs typeface="+mn-lt"/>
              </a:rPr>
              <a:t>une</a:t>
            </a:r>
            <a:r>
              <a:rPr lang="en-US" sz="1200">
                <a:solidFill>
                  <a:schemeClr val="bg1"/>
                </a:solidFill>
                <a:ea typeface="+mn-lt"/>
                <a:cs typeface="+mn-lt"/>
              </a:rPr>
              <a:t> machine avec des </a:t>
            </a:r>
            <a:r>
              <a:rPr lang="en-US" sz="1200" err="1">
                <a:solidFill>
                  <a:schemeClr val="bg1"/>
                </a:solidFill>
                <a:ea typeface="+mn-lt"/>
                <a:cs typeface="+mn-lt"/>
              </a:rPr>
              <a:t>ressources</a:t>
            </a:r>
            <a:r>
              <a:rPr lang="en-US" sz="120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1200" err="1">
                <a:solidFill>
                  <a:schemeClr val="bg1"/>
                </a:solidFill>
                <a:ea typeface="+mn-lt"/>
                <a:cs typeface="+mn-lt"/>
              </a:rPr>
              <a:t>limitées</a:t>
            </a:r>
            <a:r>
              <a:rPr lang="en-US" sz="1200">
                <a:solidFill>
                  <a:schemeClr val="bg1"/>
                </a:solidFill>
                <a:ea typeface="+mn-lt"/>
                <a:cs typeface="+mn-lt"/>
              </a:rPr>
              <a:t>.</a:t>
            </a:r>
            <a:br>
              <a:rPr/>
            </a:br>
            <a:r>
              <a:t>• </a:t>
            </a:r>
            <a:r>
              <a:rPr err="1"/>
              <a:t>Quelles</a:t>
            </a:r>
            <a:r>
              <a:t> alternatives </a:t>
            </a:r>
            <a:r>
              <a:rPr err="1"/>
              <a:t>considérées</a:t>
            </a:r>
            <a:r>
              <a:t> ?</a:t>
            </a:r>
            <a:r>
              <a:rPr lang="en-US"/>
              <a:t> </a:t>
            </a:r>
            <a:endParaRPr lang="en-US">
              <a:ea typeface="Calibri"/>
              <a:cs typeface="Calibri"/>
            </a:endParaRPr>
          </a:p>
          <a:p>
            <a:pPr>
              <a:defRPr sz="1800" b="0">
                <a:solidFill>
                  <a:srgbClr val="FFD32A"/>
                </a:solidFill>
                <a:latin typeface="Calibri"/>
              </a:defRPr>
            </a:pPr>
            <a:r>
              <a:rPr lang="en-US" sz="1200" err="1">
                <a:solidFill>
                  <a:schemeClr val="bg1"/>
                </a:solidFill>
                <a:ea typeface="Calibri"/>
                <a:cs typeface="Calibri"/>
              </a:rPr>
              <a:t>J’ai</a:t>
            </a:r>
            <a:r>
              <a:rPr lang="en-US" sz="1200">
                <a:solidFill>
                  <a:schemeClr val="bg1"/>
                </a:solidFill>
                <a:ea typeface="Calibri"/>
                <a:cs typeface="Calibri"/>
              </a:rPr>
              <a:t> </a:t>
            </a:r>
            <a:r>
              <a:rPr lang="en-US" sz="1200" err="1">
                <a:solidFill>
                  <a:schemeClr val="bg1"/>
                </a:solidFill>
                <a:ea typeface="Calibri"/>
                <a:cs typeface="Calibri"/>
              </a:rPr>
              <a:t>considéré</a:t>
            </a:r>
            <a:r>
              <a:rPr lang="en-US" sz="1200">
                <a:solidFill>
                  <a:schemeClr val="bg1"/>
                </a:solidFill>
                <a:ea typeface="Calibri"/>
                <a:cs typeface="Calibri"/>
              </a:rPr>
              <a:t> </a:t>
            </a:r>
            <a:r>
              <a:rPr lang="en-US" sz="1200" err="1">
                <a:solidFill>
                  <a:schemeClr val="bg1"/>
                </a:solidFill>
                <a:ea typeface="Calibri"/>
                <a:cs typeface="Calibri"/>
              </a:rPr>
              <a:t>d’autres</a:t>
            </a:r>
            <a:r>
              <a:rPr lang="en-US" sz="1200">
                <a:solidFill>
                  <a:schemeClr val="bg1"/>
                </a:solidFill>
                <a:ea typeface="Calibri"/>
                <a:cs typeface="Calibri"/>
              </a:rPr>
              <a:t> datasets </a:t>
            </a:r>
            <a:r>
              <a:rPr lang="en-US" sz="1200" err="1">
                <a:solidFill>
                  <a:schemeClr val="bg1"/>
                </a:solidFill>
                <a:ea typeface="Calibri"/>
                <a:cs typeface="Calibri"/>
              </a:rPr>
              <a:t>comme</a:t>
            </a:r>
            <a:r>
              <a:rPr lang="en-US" sz="1200">
                <a:solidFill>
                  <a:schemeClr val="bg1"/>
                </a:solidFill>
                <a:ea typeface="Calibri"/>
                <a:cs typeface="Calibri"/>
              </a:rPr>
              <a:t> HAM10000 </a:t>
            </a:r>
            <a:r>
              <a:rPr lang="en-US" sz="1200" err="1">
                <a:solidFill>
                  <a:schemeClr val="bg1"/>
                </a:solidFill>
                <a:ea typeface="Calibri"/>
                <a:cs typeface="Calibri"/>
              </a:rPr>
              <a:t>ou</a:t>
            </a:r>
            <a:r>
              <a:rPr lang="en-US" sz="1200">
                <a:solidFill>
                  <a:schemeClr val="bg1"/>
                </a:solidFill>
                <a:ea typeface="Calibri"/>
                <a:cs typeface="Calibri"/>
              </a:rPr>
              <a:t> ISIC Archive, </a:t>
            </a:r>
            <a:r>
              <a:rPr lang="en-US" sz="1200" err="1">
                <a:solidFill>
                  <a:schemeClr val="bg1"/>
                </a:solidFill>
                <a:ea typeface="Calibri"/>
                <a:cs typeface="Calibri"/>
              </a:rPr>
              <a:t>mais</a:t>
            </a:r>
            <a:r>
              <a:rPr lang="en-US" sz="1200">
                <a:solidFill>
                  <a:schemeClr val="bg1"/>
                </a:solidFill>
                <a:ea typeface="Calibri"/>
                <a:cs typeface="Calibri"/>
              </a:rPr>
              <a:t> </a:t>
            </a:r>
            <a:r>
              <a:rPr lang="en-US" sz="1200" err="1">
                <a:solidFill>
                  <a:schemeClr val="bg1"/>
                </a:solidFill>
                <a:ea typeface="Calibri"/>
                <a:cs typeface="Calibri"/>
              </a:rPr>
              <a:t>ils</a:t>
            </a:r>
            <a:r>
              <a:rPr lang="en-US" sz="1200">
                <a:solidFill>
                  <a:schemeClr val="bg1"/>
                </a:solidFill>
                <a:ea typeface="Calibri"/>
                <a:cs typeface="Calibri"/>
              </a:rPr>
              <a:t> </a:t>
            </a:r>
            <a:r>
              <a:rPr lang="en-US" sz="1200" err="1">
                <a:solidFill>
                  <a:schemeClr val="bg1"/>
                </a:solidFill>
                <a:ea typeface="Calibri"/>
                <a:cs typeface="Calibri"/>
              </a:rPr>
              <a:t>sont</a:t>
            </a:r>
            <a:r>
              <a:rPr lang="en-US" sz="1200">
                <a:solidFill>
                  <a:schemeClr val="bg1"/>
                </a:solidFill>
                <a:ea typeface="Calibri"/>
                <a:cs typeface="Calibri"/>
              </a:rPr>
              <a:t> soit trop </a:t>
            </a:r>
            <a:r>
              <a:rPr lang="en-US" sz="1200" err="1">
                <a:solidFill>
                  <a:schemeClr val="bg1"/>
                </a:solidFill>
                <a:ea typeface="Calibri"/>
                <a:cs typeface="Calibri"/>
              </a:rPr>
              <a:t>spécialisés</a:t>
            </a:r>
            <a:r>
              <a:rPr lang="en-US" sz="1200">
                <a:solidFill>
                  <a:schemeClr val="bg1"/>
                </a:solidFill>
                <a:ea typeface="Calibri"/>
                <a:cs typeface="Calibri"/>
              </a:rPr>
              <a:t> (</a:t>
            </a:r>
            <a:r>
              <a:rPr lang="en-US" sz="1200" err="1">
                <a:solidFill>
                  <a:schemeClr val="bg1"/>
                </a:solidFill>
                <a:ea typeface="Calibri"/>
                <a:cs typeface="Calibri"/>
              </a:rPr>
              <a:t>principalement</a:t>
            </a:r>
            <a:r>
              <a:rPr lang="en-US" sz="1200">
                <a:solidFill>
                  <a:schemeClr val="bg1"/>
                </a:solidFill>
                <a:ea typeface="Calibri"/>
                <a:cs typeface="Calibri"/>
              </a:rPr>
              <a:t> cancer de la </a:t>
            </a:r>
            <a:r>
              <a:rPr lang="en-US" sz="1200" err="1">
                <a:solidFill>
                  <a:schemeClr val="bg1"/>
                </a:solidFill>
                <a:ea typeface="Calibri"/>
                <a:cs typeface="Calibri"/>
              </a:rPr>
              <a:t>peau</a:t>
            </a:r>
            <a:r>
              <a:rPr lang="en-US" sz="1200">
                <a:solidFill>
                  <a:schemeClr val="bg1"/>
                </a:solidFill>
                <a:ea typeface="Calibri"/>
                <a:cs typeface="Calibri"/>
              </a:rPr>
              <a:t>), soit trop </a:t>
            </a:r>
            <a:r>
              <a:rPr lang="en-US" sz="1200" err="1">
                <a:solidFill>
                  <a:schemeClr val="bg1"/>
                </a:solidFill>
                <a:ea typeface="Calibri"/>
                <a:cs typeface="Calibri"/>
              </a:rPr>
              <a:t>volumineux</a:t>
            </a:r>
            <a:r>
              <a:rPr lang="en-US" sz="1200">
                <a:solidFill>
                  <a:schemeClr val="bg1"/>
                </a:solidFill>
                <a:ea typeface="Calibri"/>
                <a:cs typeface="Calibri"/>
              </a:rPr>
              <a:t> </a:t>
            </a:r>
            <a:r>
              <a:rPr lang="en-US" sz="1200" err="1">
                <a:solidFill>
                  <a:schemeClr val="bg1"/>
                </a:solidFill>
                <a:ea typeface="Calibri"/>
                <a:cs typeface="Calibri"/>
              </a:rPr>
              <a:t>ou</a:t>
            </a:r>
            <a:r>
              <a:rPr lang="en-US" sz="1200">
                <a:solidFill>
                  <a:schemeClr val="bg1"/>
                </a:solidFill>
                <a:ea typeface="Calibri"/>
                <a:cs typeface="Calibri"/>
              </a:rPr>
              <a:t> complexes à exploiter sur </a:t>
            </a:r>
            <a:r>
              <a:rPr lang="en-US" sz="1200" err="1">
                <a:solidFill>
                  <a:schemeClr val="bg1"/>
                </a:solidFill>
                <a:ea typeface="Calibri"/>
                <a:cs typeface="Calibri"/>
              </a:rPr>
              <a:t>mon</a:t>
            </a:r>
            <a:r>
              <a:rPr lang="en-US" sz="1200">
                <a:solidFill>
                  <a:schemeClr val="bg1"/>
                </a:solidFill>
                <a:ea typeface="Calibri"/>
                <a:cs typeface="Calibri"/>
              </a:rPr>
              <a:t> </a:t>
            </a:r>
            <a:r>
              <a:rPr lang="en-US" sz="1200" err="1">
                <a:solidFill>
                  <a:schemeClr val="bg1"/>
                </a:solidFill>
                <a:ea typeface="Calibri"/>
                <a:cs typeface="Calibri"/>
              </a:rPr>
              <a:t>environnement</a:t>
            </a:r>
            <a:r>
              <a:rPr lang="en-US">
                <a:ea typeface="Calibri"/>
                <a:cs typeface="Calibri"/>
              </a:rPr>
              <a:t>.</a:t>
            </a:r>
            <a:br>
              <a:rPr/>
            </a:br>
            <a:r>
              <a:t>• </a:t>
            </a:r>
            <a:r>
              <a:rPr err="1"/>
              <a:t>Critères</a:t>
            </a:r>
            <a:r>
              <a:t> de </a:t>
            </a:r>
            <a:r>
              <a:rPr err="1"/>
              <a:t>sélection</a:t>
            </a:r>
            <a:endParaRPr lang="en-US" b="1" err="1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  <a:defRPr sz="1800" b="0">
                <a:solidFill>
                  <a:srgbClr val="FFD32A"/>
                </a:solidFill>
                <a:latin typeface="Calibri"/>
              </a:defRPr>
            </a:pPr>
            <a:r>
              <a:rPr lang="en-US" sz="1200" err="1">
                <a:solidFill>
                  <a:schemeClr val="bg1"/>
                </a:solidFill>
                <a:ea typeface="+mn-lt"/>
                <a:cs typeface="+mn-lt"/>
              </a:rPr>
              <a:t>nombre</a:t>
            </a:r>
            <a:r>
              <a:rPr lang="en-US" sz="120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1200" err="1">
                <a:solidFill>
                  <a:schemeClr val="bg1"/>
                </a:solidFill>
                <a:ea typeface="+mn-lt"/>
                <a:cs typeface="+mn-lt"/>
              </a:rPr>
              <a:t>suffisant</a:t>
            </a:r>
            <a:r>
              <a:rPr lang="en-US" sz="120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1200" err="1">
                <a:solidFill>
                  <a:schemeClr val="bg1"/>
                </a:solidFill>
                <a:ea typeface="+mn-lt"/>
                <a:cs typeface="+mn-lt"/>
              </a:rPr>
              <a:t>d’images</a:t>
            </a:r>
            <a:r>
              <a:rPr lang="en-US" sz="1200">
                <a:solidFill>
                  <a:schemeClr val="bg1"/>
                </a:solidFill>
                <a:ea typeface="+mn-lt"/>
                <a:cs typeface="+mn-lt"/>
              </a:rPr>
              <a:t> </a:t>
            </a:r>
            <a:endParaRPr lang="en-US" sz="1200">
              <a:solidFill>
                <a:schemeClr val="bg1"/>
              </a:solidFill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  <a:defRPr sz="1800" b="0">
                <a:solidFill>
                  <a:srgbClr val="FFD32A"/>
                </a:solidFill>
                <a:latin typeface="Calibri"/>
              </a:defRPr>
            </a:pPr>
            <a:r>
              <a:rPr lang="en-US" sz="1200" err="1">
                <a:solidFill>
                  <a:schemeClr val="bg1"/>
                </a:solidFill>
                <a:ea typeface="+mn-lt"/>
                <a:cs typeface="+mn-lt"/>
              </a:rPr>
              <a:t>diversité</a:t>
            </a:r>
            <a:r>
              <a:rPr lang="en-US" sz="1200">
                <a:solidFill>
                  <a:schemeClr val="bg1"/>
                </a:solidFill>
                <a:ea typeface="+mn-lt"/>
                <a:cs typeface="+mn-lt"/>
              </a:rPr>
              <a:t> des maladies </a:t>
            </a:r>
            <a:endParaRPr lang="en-US" sz="1200">
              <a:solidFill>
                <a:schemeClr val="bg1"/>
              </a:solidFill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  <a:defRPr sz="1800" b="0">
                <a:solidFill>
                  <a:srgbClr val="FFD32A"/>
                </a:solidFill>
                <a:latin typeface="Calibri"/>
              </a:defRPr>
            </a:pPr>
            <a:r>
              <a:rPr lang="en-US" sz="1200">
                <a:solidFill>
                  <a:schemeClr val="bg1"/>
                </a:solidFill>
                <a:ea typeface="+mn-lt"/>
                <a:cs typeface="+mn-lt"/>
              </a:rPr>
              <a:t>annotations </a:t>
            </a:r>
            <a:r>
              <a:rPr lang="en-US" sz="1200" err="1">
                <a:solidFill>
                  <a:schemeClr val="bg1"/>
                </a:solidFill>
                <a:ea typeface="+mn-lt"/>
                <a:cs typeface="+mn-lt"/>
              </a:rPr>
              <a:t>claires</a:t>
            </a:r>
            <a:r>
              <a:rPr lang="en-US" sz="1200">
                <a:solidFill>
                  <a:schemeClr val="bg1"/>
                </a:solidFill>
                <a:ea typeface="+mn-lt"/>
                <a:cs typeface="+mn-lt"/>
              </a:rPr>
              <a:t> </a:t>
            </a:r>
            <a:endParaRPr lang="en-US" sz="1200">
              <a:solidFill>
                <a:schemeClr val="bg1"/>
              </a:solidFill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  <a:defRPr sz="1800" b="0">
                <a:solidFill>
                  <a:srgbClr val="FFD32A"/>
                </a:solidFill>
                <a:latin typeface="Calibri"/>
              </a:defRPr>
            </a:pPr>
            <a:r>
              <a:rPr lang="en-US" sz="1200">
                <a:solidFill>
                  <a:schemeClr val="bg1"/>
                </a:solidFill>
                <a:ea typeface="+mn-lt"/>
                <a:cs typeface="+mn-lt"/>
              </a:rPr>
              <a:t>taille compatible avec </a:t>
            </a:r>
            <a:r>
              <a:rPr lang="en-US" sz="1200" err="1">
                <a:solidFill>
                  <a:schemeClr val="bg1"/>
                </a:solidFill>
                <a:ea typeface="+mn-lt"/>
                <a:cs typeface="+mn-lt"/>
              </a:rPr>
              <a:t>mon</a:t>
            </a:r>
            <a:r>
              <a:rPr lang="en-US" sz="1200">
                <a:solidFill>
                  <a:schemeClr val="bg1"/>
                </a:solidFill>
                <a:ea typeface="+mn-lt"/>
                <a:cs typeface="+mn-lt"/>
              </a:rPr>
              <a:t> PC </a:t>
            </a:r>
            <a:endParaRPr lang="en-US" sz="1200">
              <a:solidFill>
                <a:schemeClr val="bg1"/>
              </a:solidFill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  <a:defRPr sz="1800" b="0">
                <a:solidFill>
                  <a:srgbClr val="FFD32A"/>
                </a:solidFill>
                <a:latin typeface="Calibri"/>
              </a:defRPr>
            </a:pPr>
            <a:r>
              <a:rPr lang="en-US" sz="1200" err="1">
                <a:solidFill>
                  <a:schemeClr val="bg1"/>
                </a:solidFill>
                <a:ea typeface="+mn-lt"/>
                <a:cs typeface="+mn-lt"/>
              </a:rPr>
              <a:t>facilité</a:t>
            </a:r>
            <a:r>
              <a:rPr lang="en-US" sz="120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1200" err="1">
                <a:solidFill>
                  <a:schemeClr val="bg1"/>
                </a:solidFill>
                <a:ea typeface="+mn-lt"/>
                <a:cs typeface="+mn-lt"/>
              </a:rPr>
              <a:t>d’utilisation</a:t>
            </a:r>
            <a:r>
              <a:rPr lang="en-US" sz="1200">
                <a:solidFill>
                  <a:schemeClr val="bg1"/>
                </a:solidFill>
                <a:ea typeface="+mn-lt"/>
                <a:cs typeface="+mn-lt"/>
              </a:rPr>
              <a:t> (format exploitable </a:t>
            </a:r>
            <a:r>
              <a:rPr lang="en-US" sz="1200" err="1">
                <a:solidFill>
                  <a:schemeClr val="bg1"/>
                </a:solidFill>
                <a:ea typeface="+mn-lt"/>
                <a:cs typeface="+mn-lt"/>
              </a:rPr>
              <a:t>directement</a:t>
            </a:r>
            <a:r>
              <a:rPr lang="en-US" sz="1200">
                <a:solidFill>
                  <a:schemeClr val="bg1"/>
                </a:solidFill>
                <a:ea typeface="+mn-lt"/>
                <a:cs typeface="+mn-lt"/>
              </a:rPr>
              <a:t>)</a:t>
            </a:r>
            <a:endParaRPr lang="en-US">
              <a:solidFill>
                <a:schemeClr val="bg1"/>
              </a:solidFill>
            </a:endParaRPr>
          </a:p>
          <a:p>
            <a:pPr>
              <a:defRPr sz="1800" b="0">
                <a:solidFill>
                  <a:srgbClr val="FFD32A"/>
                </a:solidFill>
                <a:latin typeface="Calibri"/>
              </a:defRPr>
            </a:pPr>
            <a:r>
              <a:t>• Lien Kaggle / source</a:t>
            </a:r>
            <a:r>
              <a:rPr lang="en-GB"/>
              <a:t>: </a:t>
            </a:r>
            <a:r>
              <a:rPr lang="en-GB">
                <a:ea typeface="+mn-lt"/>
                <a:cs typeface="+mn-lt"/>
              </a:rPr>
              <a:t>Skin Diseases Dataset (Kaggle)</a:t>
            </a:r>
            <a:endParaRPr lang="en-US">
              <a:ea typeface="Calibri"/>
              <a:cs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77240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AAAAAA"/>
                </a:solidFill>
                <a:latin typeface="Calibri"/>
              </a:defRPr>
            </a:pPr>
            <a:r>
              <a:t>3/14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D2FF"/>
                </a:solidFill>
                <a:latin typeface="Calibri"/>
              </a:defRPr>
            </a:pPr>
            <a:r>
              <a:t>4 — Dataset : 10 Classes de Maladies Cutanées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97280"/>
            <a:ext cx="5029200" cy="384048"/>
          </a:xfrm>
          <a:prstGeom prst="roundRect">
            <a:avLst/>
          </a:prstGeom>
          <a:solidFill>
            <a:srgbClr val="27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115568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Eczéma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0" y="1115568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D2FF"/>
                </a:solidFill>
                <a:latin typeface="Calibri"/>
              </a:defRPr>
            </a:pPr>
            <a:r>
              <a:t>1 677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1115568"/>
            <a:ext cx="731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D32A"/>
                </a:solidFill>
                <a:latin typeface="Calibri"/>
              </a:defRPr>
            </a:pPr>
            <a:r>
              <a:t>modéré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536192"/>
            <a:ext cx="5029200" cy="384048"/>
          </a:xfrm>
          <a:prstGeom prst="roundRect">
            <a:avLst/>
          </a:prstGeom>
          <a:solidFill>
            <a:srgbClr val="27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155448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Verrues / Molluscum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1554480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D2FF"/>
                </a:solidFill>
                <a:latin typeface="Calibri"/>
              </a:defRPr>
            </a:pPr>
            <a:r>
              <a:t>2 103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1554480"/>
            <a:ext cx="731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E676"/>
                </a:solidFill>
                <a:latin typeface="Calibri"/>
              </a:defRPr>
            </a:pPr>
            <a:r>
              <a:t>léger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1975104"/>
            <a:ext cx="5029200" cy="384048"/>
          </a:xfrm>
          <a:prstGeom prst="roundRect">
            <a:avLst/>
          </a:prstGeom>
          <a:solidFill>
            <a:srgbClr val="27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" y="1993392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Mélanome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0" y="1993392"/>
            <a:ext cx="914400" cy="27699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defRPr sz="1200" b="0">
                <a:solidFill>
                  <a:srgbClr val="00D2FF"/>
                </a:solidFill>
                <a:latin typeface="Calibri"/>
              </a:defRPr>
            </a:pPr>
            <a:r>
              <a:rPr lang="en-US"/>
              <a:t>7 750</a:t>
            </a:r>
            <a:endParaRPr dirty="0"/>
          </a:p>
        </p:txBody>
      </p:sp>
      <p:sp>
        <p:nvSpPr>
          <p:cNvPr id="14" name="TextBox 13"/>
          <p:cNvSpPr txBox="1"/>
          <p:nvPr/>
        </p:nvSpPr>
        <p:spPr>
          <a:xfrm>
            <a:off x="4754880" y="1993392"/>
            <a:ext cx="731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4757"/>
                </a:solidFill>
                <a:latin typeface="Calibri"/>
              </a:defRPr>
            </a:pPr>
            <a:r>
              <a:t>critique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2414016"/>
            <a:ext cx="5029200" cy="384048"/>
          </a:xfrm>
          <a:prstGeom prst="roundRect">
            <a:avLst/>
          </a:prstGeom>
          <a:solidFill>
            <a:srgbClr val="27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0080" y="2432304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Dermatite Atopique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40480" y="2432304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D2FF"/>
                </a:solidFill>
                <a:latin typeface="Calibri"/>
              </a:defRPr>
            </a:pPr>
            <a:r>
              <a:t>1 250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4880" y="2432304"/>
            <a:ext cx="731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D32A"/>
                </a:solidFill>
                <a:latin typeface="Calibri"/>
              </a:defRPr>
            </a:pPr>
            <a:r>
              <a:t>modéré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2852928"/>
            <a:ext cx="5029200" cy="384048"/>
          </a:xfrm>
          <a:prstGeom prst="roundRect">
            <a:avLst/>
          </a:prstGeom>
          <a:solidFill>
            <a:srgbClr val="27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0080" y="2871216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Carcinome Basocellulaire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40480" y="2871216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D2FF"/>
                </a:solidFill>
                <a:latin typeface="Calibri"/>
              </a:defRPr>
            </a:pPr>
            <a:r>
              <a:t>3 323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54880" y="2871216"/>
            <a:ext cx="731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9F43"/>
                </a:solidFill>
                <a:latin typeface="Calibri"/>
              </a:defRPr>
            </a:pPr>
            <a:r>
              <a:t>urgent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3291840"/>
            <a:ext cx="5029200" cy="384048"/>
          </a:xfrm>
          <a:prstGeom prst="roundRect">
            <a:avLst/>
          </a:prstGeom>
          <a:solidFill>
            <a:srgbClr val="27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0080" y="3310128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Nævus Mélanocytaire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840480" y="3310128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D2FF"/>
                </a:solidFill>
                <a:latin typeface="Calibri"/>
              </a:defRPr>
            </a:pPr>
            <a:r>
              <a:t>7 970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54880" y="3310128"/>
            <a:ext cx="731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E676"/>
                </a:solidFill>
                <a:latin typeface="Calibri"/>
              </a:defRPr>
            </a:pPr>
            <a:r>
              <a:t>léger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3730752"/>
            <a:ext cx="5029200" cy="384048"/>
          </a:xfrm>
          <a:prstGeom prst="roundRect">
            <a:avLst/>
          </a:prstGeom>
          <a:solidFill>
            <a:srgbClr val="27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40080" y="3749039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Kératose Bénigne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840480" y="3749039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D2FF"/>
                </a:solidFill>
                <a:latin typeface="Calibri"/>
              </a:defRPr>
            </a:pPr>
            <a:r>
              <a:t>2 624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54880" y="3749039"/>
            <a:ext cx="731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E676"/>
                </a:solidFill>
                <a:latin typeface="Calibri"/>
              </a:defRPr>
            </a:pPr>
            <a:r>
              <a:t>léger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200" y="4169664"/>
            <a:ext cx="5029200" cy="384048"/>
          </a:xfrm>
          <a:prstGeom prst="roundRect">
            <a:avLst/>
          </a:prstGeom>
          <a:solidFill>
            <a:srgbClr val="27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40080" y="4187952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Psoriasis / Lichen Plan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840480" y="4187952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D2FF"/>
                </a:solidFill>
                <a:latin typeface="Calibri"/>
              </a:defRPr>
            </a:pPr>
            <a:r>
              <a:t>2 000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54880" y="4187952"/>
            <a:ext cx="731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D32A"/>
                </a:solidFill>
                <a:latin typeface="Calibri"/>
              </a:defRPr>
            </a:pPr>
            <a:r>
              <a:t>modéré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57200" y="4608576"/>
            <a:ext cx="5029200" cy="384048"/>
          </a:xfrm>
          <a:prstGeom prst="roundRect">
            <a:avLst/>
          </a:prstGeom>
          <a:solidFill>
            <a:srgbClr val="27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40080" y="4626864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Kératose Séborrhéique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840480" y="4626864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D2FF"/>
                </a:solidFill>
                <a:latin typeface="Calibri"/>
              </a:defRPr>
            </a:pPr>
            <a:r>
              <a:t>1 800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754880" y="4626864"/>
            <a:ext cx="731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E676"/>
                </a:solidFill>
                <a:latin typeface="Calibri"/>
              </a:defRPr>
            </a:pPr>
            <a:r>
              <a:t>léger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57200" y="5047488"/>
            <a:ext cx="5029200" cy="384048"/>
          </a:xfrm>
          <a:prstGeom prst="roundRect">
            <a:avLst/>
          </a:prstGeom>
          <a:solidFill>
            <a:srgbClr val="27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40080" y="5065776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Mycose / Teigne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840480" y="5065776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D2FF"/>
                </a:solidFill>
                <a:latin typeface="Calibri"/>
              </a:defRPr>
            </a:pPr>
            <a:r>
              <a:t>1 700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754880" y="5065776"/>
            <a:ext cx="731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D32A"/>
                </a:solidFill>
                <a:latin typeface="Calibri"/>
              </a:defRPr>
            </a:pPr>
            <a:r>
              <a:t>modéré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760720" y="1097280"/>
            <a:ext cx="3017520" cy="2743200"/>
          </a:xfrm>
          <a:prstGeom prst="roundRect">
            <a:avLst/>
          </a:prstGeom>
          <a:solidFill>
            <a:srgbClr val="27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5943600" y="1280160"/>
            <a:ext cx="2743200" cy="209288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rPr dirty="0"/>
              <a:t> </a:t>
            </a:r>
            <a:r>
              <a:rPr dirty="0" err="1"/>
              <a:t>Statistiques</a:t>
            </a:r>
            <a:br>
              <a:rPr dirty="0"/>
            </a:br>
            <a:br>
              <a:rPr dirty="0"/>
            </a:br>
            <a:r>
              <a:rPr dirty="0"/>
              <a:t>Total : ~</a:t>
            </a:r>
            <a:r>
              <a:rPr lang="en-US" dirty="0"/>
              <a:t>27</a:t>
            </a:r>
            <a:r>
              <a:rPr dirty="0"/>
              <a:t> 197 images</a:t>
            </a:r>
            <a:br>
              <a:rPr dirty="0"/>
            </a:br>
            <a:r>
              <a:rPr dirty="0"/>
              <a:t>Split : 80% train / 20% </a:t>
            </a:r>
            <a:r>
              <a:rPr dirty="0" err="1"/>
              <a:t>val</a:t>
            </a:r>
            <a:br>
              <a:rPr dirty="0"/>
            </a:br>
            <a:r>
              <a:rPr dirty="0"/>
              <a:t>Format : </a:t>
            </a:r>
            <a:r>
              <a:rPr lang="en-US" dirty="0" err="1"/>
              <a:t>ImageFolder</a:t>
            </a:r>
            <a:br>
              <a:rPr dirty="0"/>
            </a:br>
            <a:br>
              <a:rPr dirty="0"/>
            </a:br>
            <a:br>
              <a:rPr dirty="0"/>
            </a:br>
            <a:r>
              <a:rPr dirty="0"/>
              <a:t> Classes très </a:t>
            </a:r>
            <a:r>
              <a:rPr dirty="0" err="1"/>
              <a:t>déséquilibrées</a:t>
            </a:r>
            <a:br>
              <a:rPr dirty="0"/>
            </a:br>
            <a:r>
              <a:rPr dirty="0"/>
              <a:t>(</a:t>
            </a:r>
            <a:r>
              <a:rPr dirty="0" err="1"/>
              <a:t>Mélanome</a:t>
            </a:r>
            <a:r>
              <a:rPr dirty="0"/>
              <a:t> = </a:t>
            </a:r>
            <a:r>
              <a:rPr lang="en-US" dirty="0"/>
              <a:t>7.7k</a:t>
            </a:r>
            <a:r>
              <a:rPr dirty="0"/>
              <a:t> vs</a:t>
            </a:r>
            <a:br>
              <a:rPr dirty="0"/>
            </a:br>
            <a:r>
              <a:rPr dirty="0"/>
              <a:t> </a:t>
            </a:r>
            <a:r>
              <a:rPr dirty="0" err="1"/>
              <a:t>Dermatite</a:t>
            </a:r>
            <a:r>
              <a:rPr dirty="0"/>
              <a:t> = 1.25k)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77240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AAAAAA"/>
                </a:solidFill>
                <a:latin typeface="Calibri"/>
              </a:defRPr>
            </a:pPr>
            <a:r>
              <a:t>4/14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282117" y="-253670"/>
            <a:ext cx="137072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668730" y="422146"/>
            <a:ext cx="484026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7532611" y="655140"/>
            <a:ext cx="515604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7017482" y="0"/>
            <a:ext cx="2126518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7" name="Isosceles Triangle 16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982258" y="6115501"/>
            <a:ext cx="1120884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9298C9A-249A-F5AB-CF91-B2532CAB74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600" y="1864804"/>
            <a:ext cx="8178799" cy="3128390"/>
          </a:xfrm>
          <a:prstGeom prst="rect">
            <a:avLst/>
          </a:prstGeom>
          <a:ln>
            <a:noFill/>
          </a:ln>
        </p:spPr>
      </p:pic>
      <p:sp>
        <p:nvSpPr>
          <p:cNvPr id="19" name="Isosceles Triangle 18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703060" y="6453143"/>
            <a:ext cx="611177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10548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52322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defRPr sz="2800" b="1">
                <a:solidFill>
                  <a:srgbClr val="00D2FF"/>
                </a:solidFill>
                <a:latin typeface="Calibri"/>
              </a:defRPr>
            </a:pPr>
            <a:r>
              <a:t>5 — Pipeline </a:t>
            </a:r>
            <a:r>
              <a:rPr lang="en-US" err="1"/>
              <a:t>d'Images</a:t>
            </a:r>
            <a:r>
              <a:rPr lang="en-US"/>
              <a:t>(</a:t>
            </a:r>
            <a:r>
              <a:rPr lang="en-US" err="1"/>
              <a:t>traitement</a:t>
            </a:r>
            <a:r>
              <a:rPr lang="en-US"/>
              <a:t> image)</a:t>
            </a:r>
            <a:endParaRPr lang="en-US">
              <a:ea typeface="Calibri"/>
              <a:cs typeface="Calibri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445652" y="1697941"/>
            <a:ext cx="4114800" cy="3262313"/>
          </a:xfrm>
          <a:prstGeom prst="roundRect">
            <a:avLst/>
          </a:prstGeom>
          <a:solidFill>
            <a:srgbClr val="27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3657600" cy="36933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>
              <a:defRPr sz="1800" b="1">
                <a:solidFill>
                  <a:srgbClr val="00E676"/>
                </a:solidFill>
                <a:latin typeface="Calibri"/>
              </a:defRPr>
            </a:pPr>
            <a:r>
              <a:t> Augmentation (Train)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3657600" cy="309315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285750" indent="-285750">
              <a:buFont typeface="Arial"/>
              <a:buChar char="•"/>
              <a:defRPr sz="1300">
                <a:solidFill>
                  <a:srgbClr val="FFFFFF"/>
                </a:solidFill>
                <a:latin typeface="Calibri"/>
              </a:defRPr>
            </a:pPr>
            <a:r>
              <a:rPr lang="en-US" b="1">
                <a:ea typeface="+mn-lt"/>
                <a:cs typeface="+mn-lt"/>
              </a:rPr>
              <a:t>Resize (256×256)</a:t>
            </a:r>
            <a:r>
              <a:rPr lang="en-US">
                <a:ea typeface="+mn-lt"/>
                <a:cs typeface="+mn-lt"/>
              </a:rPr>
              <a:t> : </a:t>
            </a:r>
            <a:r>
              <a:rPr lang="en-US" err="1">
                <a:ea typeface="+mn-lt"/>
                <a:cs typeface="+mn-lt"/>
              </a:rPr>
              <a:t>uniformisation</a:t>
            </a:r>
            <a:r>
              <a:rPr lang="en-US">
                <a:ea typeface="+mn-lt"/>
                <a:cs typeface="+mn-lt"/>
              </a:rPr>
              <a:t> de la taille des images </a:t>
            </a:r>
            <a:endParaRPr lang="en-US"/>
          </a:p>
          <a:p>
            <a:pPr marL="285750" indent="-285750">
              <a:buFont typeface="Arial"/>
              <a:buChar char="•"/>
              <a:defRPr sz="1300">
                <a:solidFill>
                  <a:srgbClr val="FFFFFF"/>
                </a:solidFill>
                <a:latin typeface="Calibri"/>
              </a:defRPr>
            </a:pPr>
            <a:r>
              <a:rPr lang="en-US" b="1" err="1">
                <a:ea typeface="+mn-lt"/>
                <a:cs typeface="+mn-lt"/>
              </a:rPr>
              <a:t>RandomResizedCrop</a:t>
            </a:r>
            <a:r>
              <a:rPr lang="en-US" b="1">
                <a:ea typeface="+mn-lt"/>
                <a:cs typeface="+mn-lt"/>
              </a:rPr>
              <a:t> (224)</a:t>
            </a:r>
            <a:r>
              <a:rPr lang="en-US">
                <a:ea typeface="+mn-lt"/>
                <a:cs typeface="+mn-lt"/>
              </a:rPr>
              <a:t> : </a:t>
            </a:r>
            <a:r>
              <a:rPr lang="en-US" err="1">
                <a:ea typeface="+mn-lt"/>
                <a:cs typeface="+mn-lt"/>
              </a:rPr>
              <a:t>sélection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aléatoire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d’une</a:t>
            </a:r>
            <a:r>
              <a:rPr lang="en-US">
                <a:ea typeface="+mn-lt"/>
                <a:cs typeface="+mn-lt"/>
              </a:rPr>
              <a:t> zone de </a:t>
            </a:r>
            <a:r>
              <a:rPr lang="en-US" err="1">
                <a:ea typeface="+mn-lt"/>
                <a:cs typeface="+mn-lt"/>
              </a:rPr>
              <a:t>l’image</a:t>
            </a:r>
            <a:r>
              <a:rPr lang="en-US">
                <a:ea typeface="+mn-lt"/>
                <a:cs typeface="+mn-lt"/>
              </a:rPr>
              <a:t> (70% à 100%) pour varier les </a:t>
            </a:r>
            <a:r>
              <a:rPr lang="en-US" err="1">
                <a:ea typeface="+mn-lt"/>
                <a:cs typeface="+mn-lt"/>
              </a:rPr>
              <a:t>détails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observés</a:t>
            </a:r>
            <a:r>
              <a:rPr lang="en-US">
                <a:ea typeface="+mn-lt"/>
                <a:cs typeface="+mn-lt"/>
              </a:rPr>
              <a:t> </a:t>
            </a:r>
            <a:endParaRPr lang="en-US"/>
          </a:p>
          <a:p>
            <a:pPr marL="285750" indent="-285750">
              <a:buFont typeface="Arial"/>
              <a:buChar char="•"/>
              <a:defRPr sz="1300">
                <a:solidFill>
                  <a:srgbClr val="FFFFFF"/>
                </a:solidFill>
                <a:latin typeface="Calibri"/>
              </a:defRPr>
            </a:pPr>
            <a:r>
              <a:rPr lang="en-US" b="1" err="1">
                <a:ea typeface="+mn-lt"/>
                <a:cs typeface="+mn-lt"/>
              </a:rPr>
              <a:t>RandomHorizontal</a:t>
            </a:r>
            <a:r>
              <a:rPr lang="en-US" b="1">
                <a:ea typeface="+mn-lt"/>
                <a:cs typeface="+mn-lt"/>
              </a:rPr>
              <a:t> / Vertical Flip</a:t>
            </a:r>
            <a:r>
              <a:rPr lang="en-US">
                <a:ea typeface="+mn-lt"/>
                <a:cs typeface="+mn-lt"/>
              </a:rPr>
              <a:t> : inversion de </a:t>
            </a:r>
            <a:r>
              <a:rPr lang="en-US" err="1">
                <a:ea typeface="+mn-lt"/>
                <a:cs typeface="+mn-lt"/>
              </a:rPr>
              <a:t>l’image</a:t>
            </a:r>
            <a:r>
              <a:rPr lang="en-US">
                <a:ea typeface="+mn-lt"/>
                <a:cs typeface="+mn-lt"/>
              </a:rPr>
              <a:t> pour </a:t>
            </a:r>
            <a:r>
              <a:rPr lang="en-US" err="1">
                <a:ea typeface="+mn-lt"/>
                <a:cs typeface="+mn-lt"/>
              </a:rPr>
              <a:t>simuler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différents</a:t>
            </a:r>
            <a:r>
              <a:rPr lang="en-US">
                <a:ea typeface="+mn-lt"/>
                <a:cs typeface="+mn-lt"/>
              </a:rPr>
              <a:t> points de </a:t>
            </a:r>
            <a:r>
              <a:rPr lang="en-US" err="1">
                <a:ea typeface="+mn-lt"/>
                <a:cs typeface="+mn-lt"/>
              </a:rPr>
              <a:t>vue</a:t>
            </a:r>
            <a:r>
              <a:rPr lang="en-US">
                <a:ea typeface="+mn-lt"/>
                <a:cs typeface="+mn-lt"/>
              </a:rPr>
              <a:t> </a:t>
            </a:r>
            <a:endParaRPr lang="en-US"/>
          </a:p>
          <a:p>
            <a:pPr marL="285750" indent="-285750">
              <a:buFont typeface="Arial"/>
              <a:buChar char="•"/>
              <a:defRPr sz="1300">
                <a:solidFill>
                  <a:srgbClr val="FFFFFF"/>
                </a:solidFill>
                <a:latin typeface="Calibri"/>
              </a:defRPr>
            </a:pPr>
            <a:r>
              <a:rPr lang="en-US" b="1" err="1">
                <a:ea typeface="+mn-lt"/>
                <a:cs typeface="+mn-lt"/>
              </a:rPr>
              <a:t>RandomRotation</a:t>
            </a:r>
            <a:r>
              <a:rPr lang="en-US" b="1">
                <a:ea typeface="+mn-lt"/>
                <a:cs typeface="+mn-lt"/>
              </a:rPr>
              <a:t> (±30°)</a:t>
            </a:r>
            <a:r>
              <a:rPr lang="en-US">
                <a:ea typeface="+mn-lt"/>
                <a:cs typeface="+mn-lt"/>
              </a:rPr>
              <a:t> : rotation </a:t>
            </a:r>
            <a:r>
              <a:rPr lang="en-US" err="1">
                <a:ea typeface="+mn-lt"/>
                <a:cs typeface="+mn-lt"/>
              </a:rPr>
              <a:t>légère</a:t>
            </a:r>
            <a:r>
              <a:rPr lang="en-US">
                <a:ea typeface="+mn-lt"/>
                <a:cs typeface="+mn-lt"/>
              </a:rPr>
              <a:t> pour </a:t>
            </a:r>
            <a:r>
              <a:rPr lang="en-US" err="1">
                <a:ea typeface="+mn-lt"/>
                <a:cs typeface="+mn-lt"/>
              </a:rPr>
              <a:t>gérer</a:t>
            </a:r>
            <a:r>
              <a:rPr lang="en-US">
                <a:ea typeface="+mn-lt"/>
                <a:cs typeface="+mn-lt"/>
              </a:rPr>
              <a:t> les variations </a:t>
            </a:r>
            <a:r>
              <a:rPr lang="en-US" err="1">
                <a:ea typeface="+mn-lt"/>
                <a:cs typeface="+mn-lt"/>
              </a:rPr>
              <a:t>d’orientation</a:t>
            </a:r>
            <a:r>
              <a:rPr lang="en-US">
                <a:ea typeface="+mn-lt"/>
                <a:cs typeface="+mn-lt"/>
              </a:rPr>
              <a:t> </a:t>
            </a:r>
            <a:endParaRPr lang="en-US"/>
          </a:p>
          <a:p>
            <a:pPr marL="285750" indent="-285750">
              <a:buFont typeface="Arial"/>
              <a:buChar char="•"/>
              <a:defRPr sz="1300">
                <a:solidFill>
                  <a:srgbClr val="FFFFFF"/>
                </a:solidFill>
                <a:latin typeface="Calibri"/>
              </a:defRPr>
            </a:pPr>
            <a:r>
              <a:rPr lang="en-US" b="1" err="1">
                <a:ea typeface="+mn-lt"/>
                <a:cs typeface="+mn-lt"/>
              </a:rPr>
              <a:t>ColorJitter</a:t>
            </a:r>
            <a:r>
              <a:rPr lang="en-US">
                <a:ea typeface="+mn-lt"/>
                <a:cs typeface="+mn-lt"/>
              </a:rPr>
              <a:t> :  </a:t>
            </a:r>
            <a:r>
              <a:rPr lang="en-US" err="1">
                <a:ea typeface="+mn-lt"/>
                <a:cs typeface="+mn-lt"/>
              </a:rPr>
              <a:t>simuler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différentes</a:t>
            </a:r>
            <a:r>
              <a:rPr lang="en-US">
                <a:ea typeface="+mn-lt"/>
                <a:cs typeface="+mn-lt"/>
              </a:rPr>
              <a:t> conditions </a:t>
            </a:r>
            <a:r>
              <a:rPr lang="en-US" err="1">
                <a:ea typeface="+mn-lt"/>
                <a:cs typeface="+mn-lt"/>
              </a:rPr>
              <a:t>d’éclairage</a:t>
            </a:r>
            <a:r>
              <a:rPr lang="en-US">
                <a:ea typeface="+mn-lt"/>
                <a:cs typeface="+mn-lt"/>
              </a:rPr>
              <a:t> </a:t>
            </a:r>
            <a:endParaRPr lang="en-US"/>
          </a:p>
          <a:p>
            <a:pPr marL="285750" indent="-285750">
              <a:buFont typeface="Arial"/>
              <a:buChar char="•"/>
              <a:defRPr sz="1300">
                <a:solidFill>
                  <a:srgbClr val="FFFFFF"/>
                </a:solidFill>
                <a:latin typeface="Calibri"/>
              </a:defRPr>
            </a:pPr>
            <a:r>
              <a:rPr lang="en-US" b="1" err="1">
                <a:ea typeface="+mn-lt"/>
                <a:cs typeface="+mn-lt"/>
              </a:rPr>
              <a:t>GaussianBlur</a:t>
            </a:r>
            <a:r>
              <a:rPr lang="en-US" b="1">
                <a:ea typeface="+mn-lt"/>
                <a:cs typeface="+mn-lt"/>
              </a:rPr>
              <a:t> (</a:t>
            </a:r>
            <a:r>
              <a:rPr lang="el-GR" b="1">
                <a:ea typeface="+mn-lt"/>
                <a:cs typeface="+mn-lt"/>
              </a:rPr>
              <a:t>σ 0.1–2.0)</a:t>
            </a:r>
            <a:r>
              <a:rPr lang="el-GR">
                <a:ea typeface="+mn-lt"/>
                <a:cs typeface="+mn-lt"/>
              </a:rPr>
              <a:t> : </a:t>
            </a:r>
            <a:r>
              <a:rPr lang="en-US" err="1">
                <a:ea typeface="+mn-lt"/>
                <a:cs typeface="+mn-lt"/>
              </a:rPr>
              <a:t>flou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aléatoire</a:t>
            </a:r>
            <a:r>
              <a:rPr lang="en-US">
                <a:ea typeface="+mn-lt"/>
                <a:cs typeface="+mn-lt"/>
              </a:rPr>
              <a:t> pour </a:t>
            </a:r>
            <a:r>
              <a:rPr lang="en-US" err="1">
                <a:ea typeface="+mn-lt"/>
                <a:cs typeface="+mn-lt"/>
              </a:rPr>
              <a:t>simuler</a:t>
            </a:r>
            <a:r>
              <a:rPr lang="en-US">
                <a:ea typeface="+mn-lt"/>
                <a:cs typeface="+mn-lt"/>
              </a:rPr>
              <a:t> des images de </a:t>
            </a:r>
            <a:r>
              <a:rPr lang="en-US" err="1">
                <a:ea typeface="+mn-lt"/>
                <a:cs typeface="+mn-lt"/>
              </a:rPr>
              <a:t>qualité</a:t>
            </a:r>
            <a:r>
              <a:rPr lang="en-US">
                <a:ea typeface="+mn-lt"/>
                <a:cs typeface="+mn-lt"/>
              </a:rPr>
              <a:t> variable </a:t>
            </a:r>
            <a:endParaRPr lang="en-US"/>
          </a:p>
          <a:p>
            <a:pPr marL="285750" indent="-285750">
              <a:buFont typeface="Arial"/>
              <a:buChar char="•"/>
              <a:defRPr sz="1300">
                <a:solidFill>
                  <a:srgbClr val="FFFFFF"/>
                </a:solidFill>
                <a:latin typeface="Calibri"/>
              </a:defRPr>
            </a:pPr>
            <a:r>
              <a:rPr lang="en-US" b="1" err="1">
                <a:ea typeface="+mn-lt"/>
                <a:cs typeface="+mn-lt"/>
              </a:rPr>
              <a:t>ToTensor</a:t>
            </a:r>
            <a:r>
              <a:rPr lang="en-US" b="1">
                <a:ea typeface="+mn-lt"/>
                <a:cs typeface="+mn-lt"/>
              </a:rPr>
              <a:t> + Normalize (ImageNet)</a:t>
            </a:r>
            <a:r>
              <a:rPr lang="en-US">
                <a:ea typeface="+mn-lt"/>
                <a:cs typeface="+mn-lt"/>
              </a:rPr>
              <a:t> : conversion </a:t>
            </a:r>
            <a:r>
              <a:rPr lang="en-US" err="1">
                <a:ea typeface="+mn-lt"/>
                <a:cs typeface="+mn-lt"/>
              </a:rPr>
              <a:t>en</a:t>
            </a:r>
            <a:r>
              <a:rPr lang="en-US">
                <a:ea typeface="+mn-lt"/>
                <a:cs typeface="+mn-lt"/>
              </a:rPr>
              <a:t> format exploitable </a:t>
            </a:r>
            <a:endParaRPr lang="en-US">
              <a:ea typeface="Calibri"/>
              <a:cs typeface="Calibri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4754880" y="1180623"/>
            <a:ext cx="4114800" cy="1850233"/>
          </a:xfrm>
          <a:prstGeom prst="roundRect">
            <a:avLst/>
          </a:prstGeom>
          <a:solidFill>
            <a:srgbClr val="27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937760" y="11887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2FF"/>
                </a:solidFill>
                <a:latin typeface="Calibri"/>
              </a:defRPr>
            </a:pPr>
            <a:r>
              <a:t>🔍 Inférence (Val/Test)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22044" y="1368266"/>
            <a:ext cx="3657600" cy="169277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defRPr sz="1300">
                <a:solidFill>
                  <a:srgbClr val="FFFFFF"/>
                </a:solidFill>
                <a:latin typeface="Calibri"/>
              </a:defRPr>
            </a:pPr>
            <a:endParaRPr lang="en-US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  <a:defRPr sz="1300">
                <a:solidFill>
                  <a:srgbClr val="FFFFFF"/>
                </a:solidFill>
                <a:latin typeface="Calibri"/>
              </a:defRPr>
            </a:pPr>
            <a:r>
              <a:rPr lang="en-US" b="1" err="1">
                <a:ea typeface="+mn-lt"/>
                <a:cs typeface="+mn-lt"/>
              </a:rPr>
              <a:t>ToTensor</a:t>
            </a:r>
            <a:r>
              <a:rPr lang="en-US">
                <a:ea typeface="+mn-lt"/>
                <a:cs typeface="+mn-lt"/>
              </a:rPr>
              <a:t> : transformation de </a:t>
            </a:r>
            <a:r>
              <a:rPr lang="en-US" err="1">
                <a:ea typeface="+mn-lt"/>
                <a:cs typeface="+mn-lt"/>
              </a:rPr>
              <a:t>l’image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en</a:t>
            </a:r>
            <a:r>
              <a:rPr lang="en-US">
                <a:ea typeface="+mn-lt"/>
                <a:cs typeface="+mn-lt"/>
              </a:rPr>
              <a:t> données </a:t>
            </a:r>
            <a:r>
              <a:rPr lang="en-US" err="1">
                <a:ea typeface="+mn-lt"/>
                <a:cs typeface="+mn-lt"/>
              </a:rPr>
              <a:t>numériques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exploitables</a:t>
            </a:r>
            <a:r>
              <a:rPr lang="en-US">
                <a:ea typeface="+mn-lt"/>
                <a:cs typeface="+mn-lt"/>
              </a:rPr>
              <a:t> </a:t>
            </a:r>
            <a:endParaRPr lang="en-US"/>
          </a:p>
          <a:p>
            <a:pPr marL="285750" indent="-285750">
              <a:buFont typeface="Arial"/>
              <a:buChar char="•"/>
              <a:defRPr sz="1300">
                <a:solidFill>
                  <a:srgbClr val="FFFFFF"/>
                </a:solidFill>
                <a:latin typeface="Calibri"/>
              </a:defRPr>
            </a:pPr>
            <a:r>
              <a:rPr lang="en-US" b="1">
                <a:ea typeface="+mn-lt"/>
                <a:cs typeface="+mn-lt"/>
              </a:rPr>
              <a:t>Normalize (ImageNet)</a:t>
            </a:r>
            <a:r>
              <a:rPr lang="en-US">
                <a:ea typeface="+mn-lt"/>
                <a:cs typeface="+mn-lt"/>
              </a:rPr>
              <a:t> : </a:t>
            </a:r>
            <a:r>
              <a:rPr lang="en-US" err="1">
                <a:ea typeface="+mn-lt"/>
                <a:cs typeface="+mn-lt"/>
              </a:rPr>
              <a:t>normalisation</a:t>
            </a:r>
            <a:r>
              <a:rPr lang="en-US">
                <a:ea typeface="+mn-lt"/>
                <a:cs typeface="+mn-lt"/>
              </a:rPr>
              <a:t> des pixels avec des </a:t>
            </a:r>
            <a:r>
              <a:rPr lang="en-US" err="1">
                <a:ea typeface="+mn-lt"/>
                <a:cs typeface="+mn-lt"/>
              </a:rPr>
              <a:t>valeurs</a:t>
            </a:r>
            <a:r>
              <a:rPr lang="en-US">
                <a:ea typeface="+mn-lt"/>
                <a:cs typeface="+mn-lt"/>
              </a:rPr>
              <a:t> de </a:t>
            </a:r>
            <a:r>
              <a:rPr lang="en-US" err="1">
                <a:ea typeface="+mn-lt"/>
                <a:cs typeface="+mn-lt"/>
              </a:rPr>
              <a:t>référence</a:t>
            </a:r>
            <a:r>
              <a:rPr lang="en-US">
                <a:ea typeface="+mn-lt"/>
                <a:cs typeface="+mn-lt"/>
              </a:rPr>
              <a:t> </a:t>
            </a:r>
            <a:endParaRPr lang="en-US"/>
          </a:p>
          <a:p>
            <a:pPr marL="285750" indent="-285750">
              <a:buFont typeface="Arial"/>
              <a:buChar char="•"/>
              <a:defRPr sz="1300">
                <a:solidFill>
                  <a:srgbClr val="FFFFFF"/>
                </a:solidFill>
                <a:latin typeface="Calibri"/>
              </a:defRPr>
            </a:pPr>
            <a:r>
              <a:rPr lang="en-US">
                <a:ea typeface="+mn-lt"/>
                <a:cs typeface="+mn-lt"/>
              </a:rPr>
              <a:t>mean = [0.485, 0.456, 0.406] </a:t>
            </a:r>
            <a:endParaRPr lang="en-US"/>
          </a:p>
          <a:p>
            <a:pPr marL="285750" indent="-285750">
              <a:buFont typeface="Arial"/>
              <a:buChar char="•"/>
              <a:defRPr sz="1300">
                <a:solidFill>
                  <a:srgbClr val="FFFFFF"/>
                </a:solidFill>
                <a:latin typeface="Calibri"/>
              </a:defRPr>
            </a:pPr>
            <a:r>
              <a:rPr lang="en-US">
                <a:ea typeface="+mn-lt"/>
                <a:cs typeface="+mn-lt"/>
              </a:rPr>
              <a:t>std = [0.229, 0.224, 0.225]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endParaRPr lang="en-US">
              <a:ea typeface="Calibri"/>
              <a:cs typeface="Calibri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4695349" y="3186112"/>
            <a:ext cx="4114800" cy="1645920"/>
          </a:xfrm>
          <a:prstGeom prst="roundRect">
            <a:avLst/>
          </a:prstGeom>
          <a:solidFill>
            <a:srgbClr val="27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925854" y="3289459"/>
            <a:ext cx="3657600" cy="1015663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Pourquoi </a:t>
            </a:r>
            <a:r>
              <a:rPr lang="en-US" err="1"/>
              <a:t>cette</a:t>
            </a:r>
            <a:r>
              <a:t> augmentation ?</a:t>
            </a:r>
            <a:br/>
            <a:br/>
            <a:r>
              <a:t>• </a:t>
            </a:r>
            <a:r>
              <a:rPr lang="en-US" err="1"/>
              <a:t>Compenser</a:t>
            </a:r>
            <a:r>
              <a:t> le petit volume de </a:t>
            </a:r>
            <a:r>
              <a:rPr lang="en-US" err="1"/>
              <a:t>certaines</a:t>
            </a:r>
            <a:r>
              <a:t> classes</a:t>
            </a:r>
            <a:br/>
            <a:r>
              <a:t>• </a:t>
            </a:r>
            <a:r>
              <a:rPr lang="en-US" err="1"/>
              <a:t>Simuler</a:t>
            </a:r>
            <a:r>
              <a:t> des conditions de capture </a:t>
            </a:r>
            <a:r>
              <a:rPr lang="en-US" err="1"/>
              <a:t>variées</a:t>
            </a:r>
            <a:br/>
            <a:r>
              <a:t>• </a:t>
            </a:r>
            <a:r>
              <a:rPr lang="en-US" err="1"/>
              <a:t>Réduire</a:t>
            </a:r>
            <a:r>
              <a:t> le </a:t>
            </a:r>
            <a:r>
              <a:rPr lang="en-US" err="1"/>
              <a:t>surapprentissage</a:t>
            </a:r>
            <a:endParaRPr lang="en-US" err="1">
              <a:ea typeface="Calibri"/>
              <a:cs typeface="Calibri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77240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AAAAAA"/>
                </a:solidFill>
                <a:latin typeface="Calibri"/>
              </a:defRPr>
            </a:pPr>
            <a:r>
              <a:t>5/14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A64F0FBE-4CAD-2B64-9963-3079FCA02B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0625" y="4835714"/>
            <a:ext cx="6750844" cy="202050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95410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defRPr sz="2800" b="1">
                <a:solidFill>
                  <a:srgbClr val="00D2FF"/>
                </a:solidFill>
                <a:latin typeface="Calibri"/>
              </a:defRPr>
            </a:pPr>
            <a:r>
              <a:t>6 — Architecture : MobileNetV2</a:t>
            </a:r>
            <a:r>
              <a:rPr lang="en-GB"/>
              <a:t>/ResNetV2/</a:t>
            </a:r>
            <a:r>
              <a:rPr lang="en-GB" err="1"/>
              <a:t>EfficientNet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1371600"/>
            <a:ext cx="2011680" cy="914400"/>
          </a:xfrm>
          <a:prstGeom prst="roundRect">
            <a:avLst/>
          </a:prstGeom>
          <a:solidFill>
            <a:srgbClr val="27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463040"/>
            <a:ext cx="1828800" cy="52322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>
              <a:defRPr sz="1400" b="1">
                <a:solidFill>
                  <a:srgbClr val="00D2FF"/>
                </a:solidFill>
                <a:latin typeface="Calibri"/>
              </a:defRPr>
            </a:pPr>
            <a:r>
              <a:t> Image PIL</a:t>
            </a:r>
            <a:br/>
            <a:r>
              <a:t>224 × 224 × 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0" y="1371600"/>
            <a:ext cx="2286000" cy="914400"/>
          </a:xfrm>
          <a:prstGeom prst="roundRect">
            <a:avLst/>
          </a:prstGeom>
          <a:solidFill>
            <a:srgbClr val="27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834640" y="1463040"/>
            <a:ext cx="2103120" cy="52322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>
              <a:defRPr sz="1400" b="1">
                <a:solidFill>
                  <a:srgbClr val="7C4DFF"/>
                </a:solidFill>
                <a:latin typeface="Calibri"/>
              </a:defRPr>
            </a:pPr>
            <a:r>
              <a:rPr lang="en-US"/>
              <a:t> Model</a:t>
            </a:r>
            <a:br>
              <a:rPr lang="en-US"/>
            </a:br>
            <a:r>
              <a:rPr lang="en-US"/>
              <a:t>features(caractéristiques)</a:t>
            </a:r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486400" y="1371600"/>
            <a:ext cx="2286000" cy="914400"/>
          </a:xfrm>
          <a:prstGeom prst="roundRect">
            <a:avLst/>
          </a:prstGeom>
          <a:solidFill>
            <a:srgbClr val="27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577840" y="1463040"/>
            <a:ext cx="2103120" cy="52322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>
              <a:defRPr sz="1400" b="1">
                <a:solidFill>
                  <a:srgbClr val="00E676"/>
                </a:solidFill>
                <a:latin typeface="Calibri"/>
              </a:defRPr>
            </a:pPr>
            <a:r>
              <a:t> Custom Head</a:t>
            </a:r>
            <a:br/>
            <a:r>
              <a:t>1280→10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0" y="15544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00D2FF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0" y="15544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00D2FF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4320" y="2926080"/>
            <a:ext cx="3840480" cy="3200400"/>
          </a:xfrm>
          <a:prstGeom prst="roundRect">
            <a:avLst/>
          </a:prstGeom>
          <a:solidFill>
            <a:srgbClr val="27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" y="3017520"/>
            <a:ext cx="3657600" cy="58477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>
              <a:defRPr sz="1600" b="1">
                <a:solidFill>
                  <a:srgbClr val="00D2FF"/>
                </a:solidFill>
                <a:latin typeface="Calibri"/>
              </a:defRPr>
            </a:pPr>
            <a:r>
              <a:t> MobileNetV2</a:t>
            </a:r>
            <a:r>
              <a:rPr lang="en-GB"/>
              <a:t>/Resnet/</a:t>
            </a:r>
            <a:r>
              <a:rPr lang="en-GB" err="1"/>
              <a:t>EfficientNet</a:t>
            </a:r>
            <a:r>
              <a:t> — </a:t>
            </a:r>
            <a:r>
              <a:rPr lang="en-US" err="1"/>
              <a:t>Pourquoi</a:t>
            </a:r>
            <a:r>
              <a:t> 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566160"/>
            <a:ext cx="3657600" cy="152349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rPr lang="en-US"/>
              <a:t> </a:t>
            </a:r>
            <a:r>
              <a:rPr lang="en-US" err="1"/>
              <a:t>Légers</a:t>
            </a:r>
            <a:r>
              <a:rPr lang="en-US"/>
              <a:t> </a:t>
            </a:r>
            <a:r>
              <a:t>: ~</a:t>
            </a:r>
            <a:r>
              <a:rPr lang="en-GB"/>
              <a:t>3.4M-10M </a:t>
            </a:r>
            <a:r>
              <a:rPr lang="en-GB" err="1"/>
              <a:t>paramètres</a:t>
            </a:r>
            <a:r>
              <a:t> 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 </a:t>
            </a:r>
            <a:r>
              <a:rPr lang="en-US" err="1"/>
              <a:t>Rapide</a:t>
            </a:r>
            <a:r>
              <a:t> : </a:t>
            </a:r>
            <a:r>
              <a:rPr lang="en-US" err="1"/>
              <a:t>inférence</a:t>
            </a:r>
            <a:r>
              <a:t> CPU/mobile</a:t>
            </a:r>
            <a:endParaRPr lang="en-US">
              <a:ea typeface="Calibri"/>
              <a:cs typeface="Calibri"/>
            </a:endParaRP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rPr lang="en-US">
                <a:ea typeface="+mn-lt"/>
                <a:cs typeface="+mn-lt"/>
              </a:rPr>
              <a:t>Pré-</a:t>
            </a:r>
            <a:r>
              <a:rPr lang="en-US" err="1">
                <a:ea typeface="+mn-lt"/>
                <a:cs typeface="+mn-lt"/>
              </a:rPr>
              <a:t>entraînés</a:t>
            </a:r>
            <a:r>
              <a:rPr lang="en-US">
                <a:ea typeface="+mn-lt"/>
                <a:cs typeface="+mn-lt"/>
              </a:rPr>
              <a:t> sur ImageNet</a:t>
            </a:r>
            <a:r>
              <a:t> (1000 classes)</a:t>
            </a:r>
            <a:endParaRPr lang="en-US">
              <a:ea typeface="Calibri"/>
              <a:cs typeface="Calibri"/>
            </a:endParaRP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rPr lang="en-US"/>
              <a:t> </a:t>
            </a:r>
            <a:r>
              <a:rPr lang="en-US">
                <a:ea typeface="+mn-lt"/>
                <a:cs typeface="+mn-lt"/>
              </a:rPr>
              <a:t>Bien </a:t>
            </a:r>
            <a:r>
              <a:rPr lang="en-US" err="1">
                <a:ea typeface="+mn-lt"/>
                <a:cs typeface="+mn-lt"/>
              </a:rPr>
              <a:t>adaptés</a:t>
            </a:r>
            <a:r>
              <a:rPr lang="en-US">
                <a:ea typeface="+mn-lt"/>
                <a:cs typeface="+mn-lt"/>
              </a:rPr>
              <a:t> au </a:t>
            </a:r>
            <a:r>
              <a:rPr lang="en-US" b="1">
                <a:ea typeface="+mn-lt"/>
                <a:cs typeface="+mn-lt"/>
              </a:rPr>
              <a:t>transfer learning</a:t>
            </a:r>
            <a:r>
              <a:rPr lang="en-US">
                <a:ea typeface="+mn-lt"/>
                <a:cs typeface="+mn-lt"/>
              </a:rPr>
              <a:t>, </a:t>
            </a:r>
            <a:r>
              <a:rPr lang="en-US" err="1">
                <a:ea typeface="+mn-lt"/>
                <a:cs typeface="+mn-lt"/>
              </a:rPr>
              <a:t>particulièrement</a:t>
            </a:r>
            <a:r>
              <a:rPr lang="en-US">
                <a:ea typeface="+mn-lt"/>
                <a:cs typeface="+mn-lt"/>
              </a:rPr>
              <a:t> pertinent pour des données </a:t>
            </a:r>
            <a:r>
              <a:rPr lang="en-US" err="1">
                <a:ea typeface="+mn-lt"/>
                <a:cs typeface="+mn-lt"/>
              </a:rPr>
              <a:t>médicales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souvent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limitées</a:t>
            </a:r>
            <a:endParaRPr lang="en-US" err="1">
              <a:ea typeface="Calibri"/>
              <a:cs typeface="Calibri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4395304" y="2749384"/>
            <a:ext cx="4275593" cy="3366052"/>
          </a:xfrm>
          <a:prstGeom prst="roundRect">
            <a:avLst/>
          </a:prstGeom>
          <a:solidFill>
            <a:srgbClr val="27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754880" y="3017520"/>
            <a:ext cx="3931920" cy="33855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>
              <a:defRPr sz="1600" b="1">
                <a:solidFill>
                  <a:srgbClr val="00E676"/>
                </a:solidFill>
                <a:latin typeface="Calibri"/>
              </a:defRPr>
            </a:pPr>
            <a:r>
              <a:t>Custom Classifier 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6532" y="3433638"/>
            <a:ext cx="3931920" cy="138499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buFont typeface="Arial"/>
              <a:buChar char="•"/>
              <a:defRPr sz="1300">
                <a:solidFill>
                  <a:srgbClr val="00E676"/>
                </a:solidFill>
                <a:latin typeface="Calibri"/>
              </a:defRPr>
            </a:pPr>
            <a:r>
              <a:rPr lang="en-US" sz="1200" b="1">
                <a:ea typeface="+mn-lt"/>
                <a:cs typeface="+mn-lt"/>
              </a:rPr>
              <a:t>Linear (1280 → 512) + </a:t>
            </a:r>
            <a:r>
              <a:rPr lang="en-US" sz="1200" b="1" err="1">
                <a:ea typeface="+mn-lt"/>
                <a:cs typeface="+mn-lt"/>
              </a:rPr>
              <a:t>ReLU</a:t>
            </a:r>
            <a:br>
              <a:rPr lang="en-US" sz="1200" b="1">
                <a:ea typeface="+mn-lt"/>
                <a:cs typeface="+mn-lt"/>
              </a:rPr>
            </a:br>
            <a:r>
              <a:rPr lang="en-US" sz="1200" b="1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1200" b="1" err="1">
                <a:solidFill>
                  <a:schemeClr val="bg1"/>
                </a:solidFill>
                <a:ea typeface="+mn-lt"/>
                <a:cs typeface="+mn-lt"/>
              </a:rPr>
              <a:t>Réduction</a:t>
            </a:r>
            <a:r>
              <a:rPr lang="en-US" sz="1200" b="1">
                <a:solidFill>
                  <a:schemeClr val="bg1"/>
                </a:solidFill>
                <a:ea typeface="+mn-lt"/>
                <a:cs typeface="+mn-lt"/>
              </a:rPr>
              <a:t> des </a:t>
            </a:r>
            <a:r>
              <a:rPr lang="en-US" sz="1200" b="1" err="1">
                <a:solidFill>
                  <a:schemeClr val="bg1"/>
                </a:solidFill>
                <a:ea typeface="+mn-lt"/>
                <a:cs typeface="+mn-lt"/>
              </a:rPr>
              <a:t>caractéristiques</a:t>
            </a:r>
            <a:r>
              <a:rPr lang="en-US" sz="1200" b="1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1200" b="1" err="1">
                <a:solidFill>
                  <a:schemeClr val="bg1"/>
                </a:solidFill>
                <a:ea typeface="+mn-lt"/>
                <a:cs typeface="+mn-lt"/>
              </a:rPr>
              <a:t>extraites</a:t>
            </a:r>
            <a:r>
              <a:rPr lang="en-US" sz="1200" b="1">
                <a:solidFill>
                  <a:schemeClr val="bg1"/>
                </a:solidFill>
                <a:ea typeface="+mn-lt"/>
                <a:cs typeface="+mn-lt"/>
              </a:rPr>
              <a:t> à 10 dimensions. </a:t>
            </a:r>
            <a:endParaRPr lang="en-US" sz="1200" b="1">
              <a:solidFill>
                <a:schemeClr val="bg1"/>
              </a:solidFill>
              <a:ea typeface="Calibri"/>
              <a:cs typeface="Calibri"/>
            </a:endParaRPr>
          </a:p>
          <a:p>
            <a:pPr>
              <a:buFont typeface="Arial"/>
              <a:buChar char="•"/>
              <a:defRPr sz="1300">
                <a:solidFill>
                  <a:srgbClr val="00E676"/>
                </a:solidFill>
                <a:latin typeface="Calibri"/>
              </a:defRPr>
            </a:pPr>
            <a:r>
              <a:rPr lang="en-US" sz="1200" b="1" err="1">
                <a:ea typeface="+mn-lt"/>
                <a:cs typeface="+mn-lt"/>
              </a:rPr>
              <a:t>BatchNorm</a:t>
            </a:r>
            <a:r>
              <a:rPr lang="en-US" sz="1200" b="1">
                <a:ea typeface="+mn-lt"/>
                <a:cs typeface="+mn-lt"/>
              </a:rPr>
              <a:t> (512) + Dropout (0.4)</a:t>
            </a:r>
            <a:br>
              <a:rPr lang="en-US" sz="1200" b="1">
                <a:ea typeface="+mn-lt"/>
                <a:cs typeface="+mn-lt"/>
              </a:rPr>
            </a:br>
            <a:r>
              <a:rPr lang="en-US" sz="1200" b="1">
                <a:solidFill>
                  <a:schemeClr val="bg1"/>
                </a:solidFill>
                <a:ea typeface="+mn-lt"/>
                <a:cs typeface="+mn-lt"/>
              </a:rPr>
              <a:t> La </a:t>
            </a:r>
            <a:r>
              <a:rPr lang="en-US" sz="1200" b="1" err="1">
                <a:solidFill>
                  <a:schemeClr val="bg1"/>
                </a:solidFill>
                <a:ea typeface="+mn-lt"/>
                <a:cs typeface="+mn-lt"/>
              </a:rPr>
              <a:t>normalisation</a:t>
            </a:r>
            <a:r>
              <a:rPr lang="en-US" sz="1200" b="1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1200" b="1" err="1">
                <a:solidFill>
                  <a:schemeClr val="bg1"/>
                </a:solidFill>
                <a:ea typeface="+mn-lt"/>
                <a:cs typeface="+mn-lt"/>
              </a:rPr>
              <a:t>stabilise</a:t>
            </a:r>
            <a:r>
              <a:rPr lang="en-US" sz="1200" b="1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1200" b="1" err="1">
                <a:solidFill>
                  <a:schemeClr val="bg1"/>
                </a:solidFill>
                <a:ea typeface="+mn-lt"/>
                <a:cs typeface="+mn-lt"/>
              </a:rPr>
              <a:t>l’apprentissage</a:t>
            </a:r>
            <a:r>
              <a:rPr lang="en-US" sz="1200" b="1">
                <a:solidFill>
                  <a:schemeClr val="bg1"/>
                </a:solidFill>
                <a:ea typeface="+mn-lt"/>
                <a:cs typeface="+mn-lt"/>
              </a:rPr>
              <a:t>. Le Dropout </a:t>
            </a:r>
            <a:r>
              <a:rPr lang="en-US" sz="1200" b="1" err="1">
                <a:solidFill>
                  <a:schemeClr val="bg1"/>
                </a:solidFill>
                <a:ea typeface="+mn-lt"/>
                <a:cs typeface="+mn-lt"/>
              </a:rPr>
              <a:t>désactive</a:t>
            </a:r>
            <a:r>
              <a:rPr lang="en-US" sz="1200" b="1">
                <a:solidFill>
                  <a:schemeClr val="bg1"/>
                </a:solidFill>
                <a:ea typeface="+mn-lt"/>
                <a:cs typeface="+mn-lt"/>
              </a:rPr>
              <a:t> 40 % des </a:t>
            </a:r>
            <a:r>
              <a:rPr lang="en-US" sz="1200" b="1" err="1">
                <a:solidFill>
                  <a:schemeClr val="bg1"/>
                </a:solidFill>
                <a:ea typeface="+mn-lt"/>
                <a:cs typeface="+mn-lt"/>
              </a:rPr>
              <a:t>neurones</a:t>
            </a:r>
            <a:r>
              <a:rPr lang="en-US" sz="1200" b="1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1200" b="1" err="1">
                <a:solidFill>
                  <a:schemeClr val="bg1"/>
                </a:solidFill>
                <a:ea typeface="+mn-lt"/>
                <a:cs typeface="+mn-lt"/>
              </a:rPr>
              <a:t>afin</a:t>
            </a:r>
            <a:r>
              <a:rPr lang="en-US" sz="1200" b="1">
                <a:solidFill>
                  <a:schemeClr val="bg1"/>
                </a:solidFill>
                <a:ea typeface="+mn-lt"/>
                <a:cs typeface="+mn-lt"/>
              </a:rPr>
              <a:t> de limiter le </a:t>
            </a:r>
            <a:r>
              <a:rPr lang="en-US" sz="1200" b="1" err="1">
                <a:solidFill>
                  <a:schemeClr val="bg1"/>
                </a:solidFill>
                <a:ea typeface="+mn-lt"/>
                <a:cs typeface="+mn-lt"/>
              </a:rPr>
              <a:t>surapprentissage</a:t>
            </a:r>
            <a:r>
              <a:rPr lang="en-US" sz="1200" b="1">
                <a:solidFill>
                  <a:schemeClr val="bg1"/>
                </a:solidFill>
                <a:ea typeface="+mn-lt"/>
                <a:cs typeface="+mn-lt"/>
              </a:rPr>
              <a:t>.</a:t>
            </a:r>
            <a:endParaRPr lang="en-US" sz="1200">
              <a:solidFill>
                <a:schemeClr val="bg1"/>
              </a:solidFill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  <a:defRPr sz="1300">
                <a:solidFill>
                  <a:srgbClr val="00E676"/>
                </a:solidFill>
                <a:latin typeface="Calibri"/>
              </a:defRPr>
            </a:pPr>
            <a:endParaRPr lang="en-US" sz="1200">
              <a:solidFill>
                <a:srgbClr val="00E676"/>
              </a:solidFill>
              <a:ea typeface="Calibri"/>
              <a:cs typeface="Calibri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77240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AAAAAA"/>
                </a:solidFill>
                <a:latin typeface="Calibri"/>
              </a:defRPr>
            </a:pPr>
            <a:r>
              <a:t>6/14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52322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>
              <a:defRPr sz="2800" b="1">
                <a:solidFill>
                  <a:srgbClr val="00D2FF"/>
                </a:solidFill>
                <a:latin typeface="Calibri"/>
              </a:defRPr>
            </a:pPr>
            <a:r>
              <a:t>7 — Transfer Learning : </a:t>
            </a:r>
            <a:endParaRPr lang="en-US">
              <a:ea typeface="Calibri"/>
              <a:cs typeface="Calibri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271227" y="912635"/>
            <a:ext cx="3463236" cy="3445121"/>
          </a:xfrm>
          <a:prstGeom prst="roundRect">
            <a:avLst/>
          </a:prstGeom>
          <a:solidFill>
            <a:srgbClr val="27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97064" y="1202856"/>
            <a:ext cx="3657600" cy="36933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defRPr sz="1800" b="1">
                <a:solidFill>
                  <a:srgbClr val="FF9F43"/>
                </a:solidFill>
                <a:latin typeface="Calibri"/>
              </a:defRPr>
            </a:pPr>
            <a:r>
              <a:t> Phase </a:t>
            </a:r>
            <a:r>
              <a:rPr lang="en-GB"/>
              <a:t> </a:t>
            </a:r>
            <a:r>
              <a:t>— Fine-tuning </a:t>
            </a:r>
            <a:r>
              <a:rPr lang="en-US" err="1"/>
              <a:t>complet</a:t>
            </a:r>
            <a:endParaRPr lang="en-US" err="1">
              <a:ea typeface="Calibri"/>
              <a:cs typeface="Calibr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97064" y="1806713"/>
            <a:ext cx="3657600" cy="255454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rPr lang="en-US" sz="1600" dirty="0"/>
              <a:t>Tout le réseau est </a:t>
            </a:r>
            <a:r>
              <a:rPr lang="en-US" sz="1600" dirty="0" err="1"/>
              <a:t>entraîné</a:t>
            </a:r>
            <a:endParaRPr lang="en-US" sz="1600" dirty="0">
              <a:ea typeface="Calibri"/>
              <a:cs typeface="Calibri"/>
            </a:endParaRP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rPr lang="en-US" sz="1600" dirty="0"/>
              <a:t>50 époques , </a:t>
            </a:r>
            <a:r>
              <a:rPr lang="en-US" sz="1600" dirty="0" err="1"/>
              <a:t>batchsize</a:t>
            </a:r>
            <a:r>
              <a:rPr lang="en-US" sz="1600" dirty="0"/>
              <a:t> : 36</a:t>
            </a:r>
            <a:endParaRPr lang="en-US" sz="1600" dirty="0">
              <a:ea typeface="Calibri"/>
              <a:cs typeface="Calibri"/>
            </a:endParaRP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rPr lang="en-US" sz="1600" dirty="0"/>
              <a:t>Learning rates : 1e-4 (</a:t>
            </a:r>
            <a:r>
              <a:rPr lang="en-US" sz="1600" dirty="0" err="1"/>
              <a:t>rapide</a:t>
            </a:r>
            <a:r>
              <a:rPr lang="en-US" sz="1600" dirty="0"/>
              <a:t>)</a:t>
            </a:r>
            <a:endParaRPr lang="en-US" sz="1600" dirty="0">
              <a:ea typeface="Calibri"/>
              <a:cs typeface="Calibri"/>
            </a:endParaRP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rPr lang="en-US" sz="1600">
                <a:ea typeface="Calibri"/>
                <a:cs typeface="Calibri"/>
              </a:rPr>
              <a:t>Final accuracy:</a:t>
            </a:r>
            <a:endParaRPr lang="en-US" sz="1600" dirty="0">
              <a:ea typeface="Calibri"/>
              <a:cs typeface="Calibri"/>
            </a:endParaRP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rPr lang="en-US" sz="1600">
                <a:ea typeface="Calibri"/>
                <a:cs typeface="Calibri"/>
              </a:rPr>
              <a:t>EfficientNet:72,4%</a:t>
            </a:r>
            <a:endParaRPr lang="en-US" sz="1600" dirty="0">
              <a:ea typeface="Calibri"/>
              <a:cs typeface="Calibri"/>
            </a:endParaRP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rPr lang="en-US" sz="1600">
                <a:ea typeface="Calibri"/>
                <a:cs typeface="Calibri"/>
              </a:rPr>
              <a:t>MobileNet:66,78%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rPr lang="en-US" sz="1600" dirty="0" err="1">
                <a:ea typeface="Calibri"/>
                <a:cs typeface="Calibri"/>
              </a:rPr>
              <a:t>ResNet</a:t>
            </a:r>
            <a:r>
              <a:rPr lang="en-US" sz="1600" dirty="0">
                <a:ea typeface="Calibri"/>
                <a:cs typeface="Calibri"/>
              </a:rPr>
              <a:t>: 80,45%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endParaRPr lang="en-US">
              <a:ea typeface="Calibri"/>
              <a:cs typeface="Calibri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274320" y="4572000"/>
            <a:ext cx="8595360" cy="1554480"/>
          </a:xfrm>
          <a:prstGeom prst="roundRect">
            <a:avLst/>
          </a:prstGeom>
          <a:solidFill>
            <a:srgbClr val="27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" y="4663440"/>
            <a:ext cx="8229600" cy="53860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defRPr sz="1300" b="0">
                <a:solidFill>
                  <a:srgbClr val="FFFFFF"/>
                </a:solidFill>
                <a:latin typeface="Calibri"/>
              </a:defRPr>
            </a:pPr>
            <a:r>
              <a:t>💡 </a:t>
            </a:r>
            <a:r>
              <a:rPr lang="en-US" err="1"/>
              <a:t>Pourquoi</a:t>
            </a:r>
            <a:r>
              <a:t> ?</a:t>
            </a:r>
            <a:br>
              <a:rPr/>
            </a:br>
            <a:r>
              <a:rPr lang="en-US" sz="1600"/>
              <a:t>affine tout le réseau avec un </a:t>
            </a:r>
            <a:r>
              <a:rPr lang="en-US" sz="1600" err="1"/>
              <a:t>lr</a:t>
            </a:r>
            <a:r>
              <a:rPr lang="en-US" sz="1600"/>
              <a:t> très bas pour adaptation fine au </a:t>
            </a:r>
            <a:r>
              <a:rPr lang="en-US" sz="1600" err="1"/>
              <a:t>domaine</a:t>
            </a:r>
            <a:r>
              <a:rPr lang="en-US" sz="1600"/>
              <a:t> </a:t>
            </a:r>
            <a:r>
              <a:rPr lang="en-US" sz="1600" err="1"/>
              <a:t>dermatologique</a:t>
            </a:r>
            <a:r>
              <a:rPr lang="en-US" sz="1600"/>
              <a:t>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AAAAAA"/>
                </a:solidFill>
                <a:latin typeface="Calibri"/>
              </a:defRPr>
            </a:pPr>
            <a:r>
              <a:t>7/14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6C66218-D9F9-011E-7C79-E37121F0F3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05249" y="1054019"/>
            <a:ext cx="4964907" cy="317833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52322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defRPr sz="2800" b="1">
                <a:solidFill>
                  <a:srgbClr val="00D2FF"/>
                </a:solidFill>
                <a:latin typeface="Calibri"/>
              </a:defRPr>
            </a:pPr>
            <a:r>
              <a:rPr dirty="0"/>
              <a:t>8 — Classification </a:t>
            </a:r>
            <a:r>
              <a:rPr lang="en-US" dirty="0"/>
              <a:t> </a:t>
            </a:r>
            <a:r>
              <a:t>: Architecture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97280"/>
            <a:ext cx="3200400" cy="475488"/>
          </a:xfrm>
          <a:prstGeom prst="roundRect">
            <a:avLst/>
          </a:prstGeom>
          <a:solidFill>
            <a:srgbClr val="27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D2FF"/>
                </a:solidFill>
                <a:latin typeface="Calibri"/>
              </a:defRPr>
            </a:pPr>
            <a:r>
              <a:t>Input Features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0" y="1143000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0D2FF"/>
                </a:solidFill>
                <a:latin typeface="Calibri"/>
              </a:defRPr>
            </a:pPr>
            <a:r>
              <a:t>1280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0" y="1143000"/>
            <a:ext cx="3657600" cy="27699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>
              <a:defRPr sz="1200" b="0">
                <a:solidFill>
                  <a:srgbClr val="AAAAAA"/>
                </a:solidFill>
                <a:latin typeface="Calibri"/>
              </a:defRPr>
            </a:pPr>
            <a:r>
              <a:rPr dirty="0"/>
              <a:t>Sortie du backbone MobileNetV2</a:t>
            </a:r>
            <a:r>
              <a:rPr lang="en-US" dirty="0"/>
              <a:t>/</a:t>
            </a:r>
            <a:r>
              <a:rPr lang="en-US" dirty="0" err="1"/>
              <a:t>RestNet</a:t>
            </a:r>
            <a:r>
              <a:rPr lang="en-US" dirty="0"/>
              <a:t>/</a:t>
            </a:r>
            <a:r>
              <a:rPr lang="en-US" dirty="0" err="1"/>
              <a:t>EfficientNet</a:t>
            </a:r>
            <a:endParaRPr dirty="0" err="1"/>
          </a:p>
        </p:txBody>
      </p:sp>
      <p:sp>
        <p:nvSpPr>
          <p:cNvPr id="7" name="Rounded Rectangle 6"/>
          <p:cNvSpPr/>
          <p:nvPr/>
        </p:nvSpPr>
        <p:spPr>
          <a:xfrm>
            <a:off x="457200" y="1645919"/>
            <a:ext cx="3200400" cy="475488"/>
          </a:xfrm>
          <a:prstGeom prst="roundRect">
            <a:avLst/>
          </a:prstGeom>
          <a:solidFill>
            <a:srgbClr val="27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1691639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E676"/>
                </a:solidFill>
                <a:latin typeface="Calibri"/>
              </a:defRPr>
            </a:pPr>
            <a:r>
              <a:t>Linear + ReLU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1691639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0D2FF"/>
                </a:solidFill>
                <a:latin typeface="Calibri"/>
              </a:defRPr>
            </a:pPr>
            <a:r>
              <a:t>1280 → 512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0" y="1691639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AAAAA"/>
                </a:solidFill>
                <a:latin typeface="Calibri"/>
              </a:defRPr>
            </a:pPr>
            <a:r>
              <a:t>Réduction de dimensionnalité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200" y="2342197"/>
            <a:ext cx="3200400" cy="475488"/>
          </a:xfrm>
          <a:prstGeom prst="roundRect">
            <a:avLst/>
          </a:prstGeom>
          <a:solidFill>
            <a:srgbClr val="27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40080" y="2387917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4757"/>
                </a:solidFill>
                <a:latin typeface="Calibri"/>
              </a:defRPr>
            </a:pPr>
            <a:r>
              <a:t>Linear (output)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840480" y="2387917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0D2FF"/>
                </a:solidFill>
                <a:latin typeface="Calibri"/>
              </a:defRPr>
            </a:pPr>
            <a:r>
              <a:t>256 → 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303520" y="2387917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AAAAA"/>
                </a:solidFill>
                <a:latin typeface="Calibri"/>
              </a:defRPr>
            </a:pPr>
            <a:r>
              <a:t>10 classes de maladies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40544" y="4320063"/>
            <a:ext cx="8229600" cy="1097280"/>
          </a:xfrm>
          <a:prstGeom prst="roundRect">
            <a:avLst/>
          </a:prstGeom>
          <a:solidFill>
            <a:srgbClr val="27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723424" y="4411503"/>
            <a:ext cx="7772400" cy="83099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rPr dirty="0"/>
              <a:t>💡 Design rationale :</a:t>
            </a:r>
            <a:br>
              <a:rPr dirty="0"/>
            </a:br>
            <a:r>
              <a:rPr dirty="0"/>
              <a:t>• </a:t>
            </a:r>
            <a:r>
              <a:rPr dirty="0" err="1"/>
              <a:t>BatchNorm</a:t>
            </a:r>
            <a:r>
              <a:rPr dirty="0"/>
              <a:t> après </a:t>
            </a:r>
            <a:r>
              <a:rPr dirty="0" err="1"/>
              <a:t>chaque</a:t>
            </a:r>
            <a:r>
              <a:rPr dirty="0"/>
              <a:t> couche dense → convergence plus </a:t>
            </a:r>
            <a:r>
              <a:rPr dirty="0" err="1"/>
              <a:t>rapide</a:t>
            </a:r>
            <a:br>
              <a:rPr dirty="0"/>
            </a:br>
            <a:r>
              <a:rPr dirty="0"/>
              <a:t>• Dropout </a:t>
            </a:r>
            <a:r>
              <a:rPr dirty="0" err="1"/>
              <a:t>élevé</a:t>
            </a:r>
            <a:r>
              <a:rPr dirty="0"/>
              <a:t> (0.4 ) → </a:t>
            </a:r>
            <a:r>
              <a:rPr dirty="0" err="1"/>
              <a:t>réduit</a:t>
            </a:r>
            <a:r>
              <a:rPr dirty="0"/>
              <a:t> le </a:t>
            </a:r>
            <a:r>
              <a:rPr dirty="0" err="1"/>
              <a:t>surapprentissage</a:t>
            </a:r>
            <a:r>
              <a:rPr dirty="0"/>
              <a:t> sur un dataset </a:t>
            </a:r>
            <a:r>
              <a:rPr dirty="0" err="1"/>
              <a:t>médical</a:t>
            </a:r>
            <a:r>
              <a:rPr dirty="0"/>
              <a:t> </a:t>
            </a:r>
            <a:r>
              <a:rPr dirty="0" err="1"/>
              <a:t>limité</a:t>
            </a:r>
            <a:br>
              <a:rPr dirty="0"/>
            </a:br>
            <a:r>
              <a:rPr dirty="0"/>
              <a:t>• </a:t>
            </a:r>
            <a:r>
              <a:rPr dirty="0" err="1"/>
              <a:t>Réduction</a:t>
            </a:r>
            <a:r>
              <a:rPr dirty="0"/>
              <a:t> progressive (1280→10) → compression </a:t>
            </a:r>
            <a:r>
              <a:rPr dirty="0" err="1"/>
              <a:t>douce</a:t>
            </a:r>
            <a:r>
              <a:rPr dirty="0"/>
              <a:t> de </a:t>
            </a:r>
            <a:r>
              <a:rPr dirty="0" err="1"/>
              <a:t>l'information</a:t>
            </a:r>
            <a:endParaRPr lang="en-US" dirty="0" err="1">
              <a:ea typeface="Calibri"/>
              <a:cs typeface="Calibri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777240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AAAAAA"/>
                </a:solidFill>
                <a:latin typeface="Calibri"/>
              </a:defRPr>
            </a:pPr>
            <a:r>
              <a:t>8/14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D2FF"/>
                </a:solidFill>
                <a:latin typeface="Calibri"/>
              </a:defRPr>
            </a:pPr>
            <a:r>
              <a:t>9 — Boucle d'Entraînement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1156811"/>
            <a:ext cx="8567737" cy="4695349"/>
          </a:xfrm>
          <a:prstGeom prst="roundRect">
            <a:avLst/>
          </a:prstGeom>
          <a:solidFill>
            <a:srgbClr val="27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97731" y="1343501"/>
            <a:ext cx="3657600" cy="36933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defRPr sz="1800" b="1">
                <a:solidFill>
                  <a:srgbClr val="00D2FF"/>
                </a:solidFill>
                <a:latin typeface="Calibri"/>
              </a:defRPr>
            </a:pPr>
            <a:r>
              <a:rPr lang="en-US" dirty="0"/>
              <a:t> </a:t>
            </a:r>
            <a:r>
              <a:t>Configuration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725454"/>
            <a:ext cx="6872287" cy="260071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rPr sz="1600"/>
              <a:t>Batch size : 32</a:t>
            </a:r>
            <a:endParaRPr lang="en-US" sz="1600">
              <a:ea typeface="Calibri"/>
              <a:cs typeface="Calibri"/>
            </a:endParaRP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rPr sz="1600"/>
              <a:t>Époques total : </a:t>
            </a:r>
            <a:r>
              <a:rPr lang="en-US" sz="1600"/>
              <a:t>30-50</a:t>
            </a:r>
            <a:endParaRPr sz="1600" dirty="0">
              <a:ea typeface="Calibri"/>
              <a:cs typeface="Calibri"/>
            </a:endParaRP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rPr sz="1600" dirty="0"/>
              <a:t>Loss : </a:t>
            </a:r>
            <a:r>
              <a:rPr sz="1600" dirty="0" err="1"/>
              <a:t>CrossEntropyLoss</a:t>
            </a:r>
            <a:r>
              <a:rPr sz="1600" dirty="0"/>
              <a:t> (</a:t>
            </a:r>
            <a:r>
              <a:rPr sz="1600" dirty="0" err="1"/>
              <a:t>pondérée</a:t>
            </a:r>
            <a:r>
              <a:rPr sz="1600" dirty="0"/>
              <a:t>)</a:t>
            </a:r>
            <a:endParaRPr sz="1600">
              <a:ea typeface="Calibri"/>
              <a:cs typeface="Calibri"/>
            </a:endParaRP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rPr sz="1600" dirty="0"/>
              <a:t>Seed : 42 (</a:t>
            </a:r>
            <a:r>
              <a:rPr sz="1600" dirty="0" err="1"/>
              <a:t>reproductibilité</a:t>
            </a:r>
            <a:r>
              <a:rPr sz="1600" dirty="0"/>
              <a:t>)</a:t>
            </a:r>
            <a:endParaRPr sz="1600">
              <a:ea typeface="Calibri"/>
              <a:cs typeface="Calibri"/>
            </a:endParaRP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rPr sz="1600" dirty="0"/>
              <a:t>Device :</a:t>
            </a:r>
            <a:r>
              <a:rPr lang="en-US" sz="1600" dirty="0"/>
              <a:t> </a:t>
            </a:r>
            <a:r>
              <a:rPr sz="1600" dirty="0"/>
              <a:t> CPU</a:t>
            </a:r>
            <a:r>
              <a:rPr lang="en-US" sz="1600" dirty="0"/>
              <a:t> </a:t>
            </a:r>
            <a:r>
              <a:rPr lang="en-US" sz="1600" dirty="0" err="1"/>
              <a:t>ou</a:t>
            </a:r>
            <a:r>
              <a:rPr lang="en-US" sz="1600" dirty="0"/>
              <a:t> et GPU T4 de google Collab</a:t>
            </a:r>
            <a:endParaRPr sz="1600" dirty="0">
              <a:ea typeface="Calibri"/>
              <a:cs typeface="Calibri"/>
            </a:endParaRP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rPr sz="1600" dirty="0" err="1"/>
              <a:t>Sauvegarde</a:t>
            </a:r>
            <a:r>
              <a:rPr sz="1600" dirty="0"/>
              <a:t> : </a:t>
            </a:r>
            <a:r>
              <a:rPr sz="1600" dirty="0" err="1"/>
              <a:t>meilleur</a:t>
            </a:r>
            <a:r>
              <a:rPr sz="1600" dirty="0"/>
              <a:t> </a:t>
            </a:r>
            <a:r>
              <a:rPr sz="1600" dirty="0" err="1"/>
              <a:t>val_acc</a:t>
            </a:r>
            <a:endParaRPr sz="1600">
              <a:ea typeface="Calibri"/>
              <a:cs typeface="Calibri"/>
            </a:endParaRP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rPr sz="1600" dirty="0" err="1"/>
              <a:t>Historique</a:t>
            </a:r>
            <a:r>
              <a:rPr sz="1600" dirty="0"/>
              <a:t> : JSON après </a:t>
            </a:r>
            <a:r>
              <a:rPr sz="1600" dirty="0" err="1"/>
              <a:t>chaque</a:t>
            </a:r>
            <a:r>
              <a:rPr sz="1600" dirty="0"/>
              <a:t> epoch</a:t>
            </a:r>
            <a:endParaRPr sz="1600">
              <a:ea typeface="Calibri"/>
              <a:cs typeface="Calibri"/>
            </a:endParaRP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rPr sz="1600" dirty="0"/>
              <a:t>Format sortie : .</a:t>
            </a:r>
            <a:r>
              <a:rPr sz="1600" dirty="0" err="1"/>
              <a:t>pth</a:t>
            </a:r>
            <a:r>
              <a:rPr sz="1600" dirty="0"/>
              <a:t> (</a:t>
            </a:r>
            <a:r>
              <a:rPr sz="1600" dirty="0" err="1"/>
              <a:t>state_dict</a:t>
            </a:r>
            <a:r>
              <a:rPr sz="1600" dirty="0"/>
              <a:t>)</a:t>
            </a:r>
            <a:endParaRPr sz="1600" dirty="0">
              <a:ea typeface="Calibri"/>
              <a:cs typeface="Calibri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77240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AAAAAA"/>
                </a:solidFill>
                <a:latin typeface="Calibri"/>
              </a:defRPr>
            </a:pPr>
            <a:r>
              <a:t>9/14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D2FF"/>
                </a:solidFill>
                <a:latin typeface="Calibri"/>
              </a:defRPr>
            </a:pPr>
            <a:r>
              <a:t>10 — Gestion du Déséquilibre des Classes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1097280"/>
            <a:ext cx="8595360" cy="1371600"/>
          </a:xfrm>
          <a:prstGeom prst="roundRect">
            <a:avLst/>
          </a:prstGeom>
          <a:solidFill>
            <a:srgbClr val="27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95410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defRPr sz="1400" b="0">
                <a:solidFill>
                  <a:srgbClr val="FFD32A"/>
                </a:solidFill>
                <a:latin typeface="Calibri"/>
              </a:defRPr>
            </a:pPr>
            <a:r>
              <a:rPr lang="en-US" dirty="0"/>
              <a:t> </a:t>
            </a:r>
            <a:r>
              <a:rPr dirty="0" err="1"/>
              <a:t>Problème</a:t>
            </a:r>
            <a:r>
              <a:rPr dirty="0"/>
              <a:t> : Les classes </a:t>
            </a:r>
            <a:r>
              <a:rPr dirty="0" err="1"/>
              <a:t>sont</a:t>
            </a:r>
            <a:r>
              <a:rPr dirty="0"/>
              <a:t> très </a:t>
            </a:r>
            <a:r>
              <a:rPr dirty="0" err="1"/>
              <a:t>déséquilibrées</a:t>
            </a:r>
            <a:br>
              <a:rPr dirty="0"/>
            </a:br>
            <a:br>
              <a:rPr dirty="0"/>
            </a:br>
            <a:r>
              <a:rPr dirty="0" err="1"/>
              <a:t>Mélanome</a:t>
            </a:r>
            <a:r>
              <a:rPr dirty="0"/>
              <a:t> = 15 750 images   vs   </a:t>
            </a:r>
            <a:r>
              <a:rPr dirty="0" err="1"/>
              <a:t>Dermatite</a:t>
            </a:r>
            <a:r>
              <a:rPr dirty="0"/>
              <a:t> </a:t>
            </a:r>
            <a:r>
              <a:rPr dirty="0" err="1"/>
              <a:t>Atopique</a:t>
            </a:r>
            <a:r>
              <a:rPr dirty="0"/>
              <a:t> = 1 250 images  (ratio 12.6:1)</a:t>
            </a:r>
            <a:br>
              <a:rPr dirty="0"/>
            </a:br>
            <a:r>
              <a:rPr dirty="0"/>
              <a:t>Sans correction → le </a:t>
            </a:r>
            <a:r>
              <a:rPr dirty="0" err="1"/>
              <a:t>modèle</a:t>
            </a:r>
            <a:r>
              <a:rPr dirty="0"/>
              <a:t> </a:t>
            </a:r>
            <a:r>
              <a:rPr dirty="0" err="1"/>
              <a:t>prédirait</a:t>
            </a:r>
            <a:r>
              <a:rPr dirty="0"/>
              <a:t> </a:t>
            </a:r>
            <a:r>
              <a:rPr dirty="0" err="1"/>
              <a:t>toujours</a:t>
            </a:r>
            <a:r>
              <a:rPr dirty="0"/>
              <a:t> </a:t>
            </a:r>
            <a:r>
              <a:rPr dirty="0" err="1"/>
              <a:t>Mélanome</a:t>
            </a:r>
            <a:r>
              <a:rPr dirty="0"/>
              <a:t> / </a:t>
            </a:r>
            <a:r>
              <a:rPr dirty="0" err="1"/>
              <a:t>Nævus</a:t>
            </a:r>
            <a:endParaRPr lang="en-US" dirty="0" err="1">
              <a:ea typeface="Calibri"/>
              <a:cs typeface="Calibri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528162" y="2802731"/>
            <a:ext cx="8341518" cy="2866549"/>
          </a:xfrm>
          <a:prstGeom prst="roundRect">
            <a:avLst/>
          </a:prstGeom>
          <a:solidFill>
            <a:srgbClr val="27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3448" y="2941796"/>
            <a:ext cx="3657600" cy="32316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defRPr sz="1500" b="1">
                <a:solidFill>
                  <a:srgbClr val="FF9F43"/>
                </a:solidFill>
                <a:latin typeface="Calibri"/>
              </a:defRPr>
            </a:pPr>
            <a:r>
              <a:rPr lang="en-US" dirty="0"/>
              <a:t> </a:t>
            </a:r>
            <a:r>
              <a:rPr dirty="0"/>
              <a:t>Solution 2 : Loss </a:t>
            </a:r>
            <a:r>
              <a:rPr dirty="0" err="1"/>
              <a:t>Pondérée</a:t>
            </a:r>
            <a:endParaRPr lang="en-US" dirty="0" err="1">
              <a:ea typeface="Calibri"/>
              <a:cs typeface="Calibri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06292" y="3418998"/>
            <a:ext cx="7860505" cy="112338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rPr dirty="0" err="1"/>
              <a:t>CrossEntropyLoss</a:t>
            </a:r>
            <a:r>
              <a:rPr dirty="0"/>
              <a:t>(weight=...)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rPr dirty="0" err="1"/>
              <a:t>Poids</a:t>
            </a:r>
            <a:r>
              <a:rPr dirty="0"/>
              <a:t> = </a:t>
            </a:r>
            <a:r>
              <a:rPr dirty="0" err="1"/>
              <a:t>n_train</a:t>
            </a:r>
            <a:r>
              <a:rPr dirty="0"/>
              <a:t> / (</a:t>
            </a:r>
            <a:r>
              <a:rPr dirty="0" err="1"/>
              <a:t>n_classes</a:t>
            </a:r>
            <a:r>
              <a:rPr dirty="0"/>
              <a:t> × count)</a:t>
            </a:r>
            <a:endParaRPr dirty="0">
              <a:ea typeface="Calibri"/>
              <a:cs typeface="Calibri"/>
            </a:endParaRP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rPr dirty="0" err="1"/>
              <a:t>Pénalise</a:t>
            </a:r>
            <a:r>
              <a:rPr dirty="0"/>
              <a:t> plus les </a:t>
            </a:r>
            <a:r>
              <a:rPr dirty="0" err="1"/>
              <a:t>erreurs</a:t>
            </a:r>
            <a:r>
              <a:rPr dirty="0"/>
              <a:t> sur classes </a:t>
            </a:r>
            <a:r>
              <a:rPr dirty="0" err="1"/>
              <a:t>rares</a:t>
            </a:r>
            <a:endParaRPr dirty="0" err="1">
              <a:ea typeface="Calibri"/>
              <a:cs typeface="Calibri"/>
            </a:endParaRP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rPr dirty="0"/>
              <a:t>Double protection </a:t>
            </a:r>
            <a:r>
              <a:rPr dirty="0" err="1"/>
              <a:t>contre</a:t>
            </a:r>
            <a:r>
              <a:rPr dirty="0"/>
              <a:t> le </a:t>
            </a:r>
            <a:r>
              <a:rPr dirty="0" err="1"/>
              <a:t>biais</a:t>
            </a:r>
            <a:endParaRPr dirty="0" err="1">
              <a:ea typeface="Calibri"/>
              <a:cs typeface="Calibri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77240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AAAAAA"/>
                </a:solidFill>
                <a:latin typeface="Calibri"/>
              </a:defRPr>
            </a:pPr>
            <a:r>
              <a:t>10/14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D2FF"/>
                </a:solidFill>
                <a:latin typeface="Calibri"/>
              </a:defRPr>
            </a:pPr>
            <a:r>
              <a:t>11 — Classificateur &amp; Inférence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1097280"/>
            <a:ext cx="4114800" cy="4754880"/>
          </a:xfrm>
          <a:prstGeom prst="roundRect">
            <a:avLst/>
          </a:prstGeom>
          <a:solidFill>
            <a:srgbClr val="27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3657600" cy="36933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>
              <a:defRPr sz="1800" b="1">
                <a:solidFill>
                  <a:srgbClr val="00E676"/>
                </a:solidFill>
                <a:latin typeface="Calibri"/>
              </a:defRPr>
            </a:pPr>
            <a:r>
              <a:rPr dirty="0"/>
              <a:t> </a:t>
            </a:r>
            <a:r>
              <a:rPr dirty="0" err="1"/>
              <a:t>SkinDiseaseClassifier</a:t>
            </a:r>
            <a:endParaRPr lang="en-US" dirty="0" err="1">
              <a:ea typeface="Calibri"/>
              <a:cs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57200" y="1737360"/>
            <a:ext cx="3657600" cy="176971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defRPr sz="1300">
                <a:solidFill>
                  <a:srgbClr val="FFFFFF"/>
                </a:solidFill>
                <a:latin typeface="Calibri"/>
              </a:defRPr>
            </a:pPr>
            <a:r>
              <a:rPr lang="en-US" b="1" dirty="0">
                <a:ea typeface="+mn-lt"/>
                <a:cs typeface="+mn-lt"/>
              </a:rPr>
              <a:t>1.</a:t>
            </a:r>
            <a:r>
              <a:rPr lang="en-US" dirty="0">
                <a:ea typeface="+mn-lt"/>
                <a:cs typeface="+mn-lt"/>
              </a:rPr>
              <a:t> Prendre la </a:t>
            </a:r>
            <a:r>
              <a:rPr lang="en-US" b="1" dirty="0" err="1">
                <a:ea typeface="+mn-lt"/>
                <a:cs typeface="+mn-lt"/>
              </a:rPr>
              <a:t>moyenne</a:t>
            </a:r>
            <a:r>
              <a:rPr lang="en-US" b="1" dirty="0">
                <a:ea typeface="+mn-lt"/>
                <a:cs typeface="+mn-lt"/>
              </a:rPr>
              <a:t> des scores de </a:t>
            </a:r>
            <a:r>
              <a:rPr lang="en-US" b="1" dirty="0" err="1">
                <a:ea typeface="+mn-lt"/>
                <a:cs typeface="+mn-lt"/>
              </a:rPr>
              <a:t>confiance</a:t>
            </a:r>
            <a:r>
              <a:rPr lang="en-US" dirty="0">
                <a:ea typeface="+mn-lt"/>
                <a:cs typeface="+mn-lt"/>
              </a:rPr>
              <a:t> des 3 </a:t>
            </a:r>
            <a:r>
              <a:rPr lang="en-US" dirty="0" err="1">
                <a:ea typeface="+mn-lt"/>
                <a:cs typeface="+mn-lt"/>
              </a:rPr>
              <a:t>modèles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s’ils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donnent</a:t>
            </a:r>
            <a:r>
              <a:rPr lang="en-US" dirty="0">
                <a:ea typeface="+mn-lt"/>
                <a:cs typeface="+mn-lt"/>
              </a:rPr>
              <a:t> le </a:t>
            </a:r>
            <a:r>
              <a:rPr lang="en-US" b="1" dirty="0" err="1">
                <a:ea typeface="+mn-lt"/>
                <a:cs typeface="+mn-lt"/>
              </a:rPr>
              <a:t>même</a:t>
            </a:r>
            <a:r>
              <a:rPr lang="en-US" b="1" dirty="0">
                <a:ea typeface="+mn-lt"/>
                <a:cs typeface="+mn-lt"/>
              </a:rPr>
              <a:t> </a:t>
            </a:r>
            <a:r>
              <a:rPr lang="en-US" b="1" dirty="0" err="1">
                <a:ea typeface="+mn-lt"/>
                <a:cs typeface="+mn-lt"/>
              </a:rPr>
              <a:t>résultat</a:t>
            </a:r>
            <a:endParaRPr lang="en-US" dirty="0" err="1"/>
          </a:p>
          <a:p>
            <a:pPr>
              <a:defRPr sz="1300">
                <a:solidFill>
                  <a:srgbClr val="FFFFFF"/>
                </a:solidFill>
                <a:latin typeface="Calibri"/>
              </a:defRPr>
            </a:pPr>
            <a:r>
              <a:rPr lang="en-US" b="1" dirty="0">
                <a:ea typeface="+mn-lt"/>
                <a:cs typeface="+mn-lt"/>
              </a:rPr>
              <a:t>2.</a:t>
            </a:r>
            <a:r>
              <a:rPr lang="en-US" dirty="0">
                <a:ea typeface="+mn-lt"/>
                <a:cs typeface="+mn-lt"/>
              </a:rPr>
              <a:t> Si les </a:t>
            </a:r>
            <a:r>
              <a:rPr lang="en-US" dirty="0" err="1">
                <a:ea typeface="+mn-lt"/>
                <a:cs typeface="+mn-lt"/>
              </a:rPr>
              <a:t>résultats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sont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différents</a:t>
            </a:r>
            <a:r>
              <a:rPr lang="en-US" dirty="0">
                <a:ea typeface="+mn-lt"/>
                <a:cs typeface="+mn-lt"/>
              </a:rPr>
              <a:t>, </a:t>
            </a:r>
            <a:r>
              <a:rPr lang="en-US" dirty="0" err="1">
                <a:ea typeface="+mn-lt"/>
                <a:cs typeface="+mn-lt"/>
              </a:rPr>
              <a:t>choisir</a:t>
            </a:r>
            <a:r>
              <a:rPr lang="en-US" dirty="0">
                <a:ea typeface="+mn-lt"/>
                <a:cs typeface="+mn-lt"/>
              </a:rPr>
              <a:t> la </a:t>
            </a:r>
            <a:r>
              <a:rPr lang="en-US" b="1" dirty="0" err="1">
                <a:ea typeface="+mn-lt"/>
                <a:cs typeface="+mn-lt"/>
              </a:rPr>
              <a:t>classe</a:t>
            </a:r>
            <a:r>
              <a:rPr lang="en-US" b="1" dirty="0">
                <a:ea typeface="+mn-lt"/>
                <a:cs typeface="+mn-lt"/>
              </a:rPr>
              <a:t> avec la </a:t>
            </a:r>
            <a:r>
              <a:rPr lang="en-US" b="1" dirty="0" err="1">
                <a:ea typeface="+mn-lt"/>
                <a:cs typeface="+mn-lt"/>
              </a:rPr>
              <a:t>probabilité</a:t>
            </a:r>
            <a:r>
              <a:rPr lang="en-US" b="1" dirty="0">
                <a:ea typeface="+mn-lt"/>
                <a:cs typeface="+mn-lt"/>
              </a:rPr>
              <a:t> la plus </a:t>
            </a:r>
            <a:r>
              <a:rPr lang="en-US" b="1" dirty="0" err="1">
                <a:ea typeface="+mn-lt"/>
                <a:cs typeface="+mn-lt"/>
              </a:rPr>
              <a:t>élevée</a:t>
            </a:r>
            <a:endParaRPr dirty="0" err="1"/>
          </a:p>
          <a:p>
            <a:pPr>
              <a:defRPr sz="1300">
                <a:solidFill>
                  <a:srgbClr val="FFFFFF"/>
                </a:solidFill>
                <a:latin typeface="Calibri"/>
              </a:defRPr>
            </a:pPr>
            <a:r>
              <a:rPr lang="en-US" b="1" dirty="0">
                <a:ea typeface="+mn-lt"/>
                <a:cs typeface="+mn-lt"/>
              </a:rPr>
              <a:t>3.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Considérer</a:t>
            </a:r>
            <a:r>
              <a:rPr lang="en-US" dirty="0">
                <a:ea typeface="+mn-lt"/>
                <a:cs typeface="+mn-lt"/>
              </a:rPr>
              <a:t> les </a:t>
            </a:r>
            <a:r>
              <a:rPr lang="en-US" b="1" dirty="0">
                <a:ea typeface="+mn-lt"/>
                <a:cs typeface="+mn-lt"/>
              </a:rPr>
              <a:t>Top-5 </a:t>
            </a:r>
            <a:r>
              <a:rPr lang="en-US" b="1" dirty="0" err="1">
                <a:ea typeface="+mn-lt"/>
                <a:cs typeface="+mn-lt"/>
              </a:rPr>
              <a:t>candidats</a:t>
            </a:r>
            <a:r>
              <a:rPr lang="en-US" dirty="0">
                <a:ea typeface="+mn-lt"/>
                <a:cs typeface="+mn-lt"/>
              </a:rPr>
              <a:t> (les 5 classes avec les plus fortes </a:t>
            </a:r>
            <a:r>
              <a:rPr lang="en-US" dirty="0" err="1">
                <a:ea typeface="+mn-lt"/>
                <a:cs typeface="+mn-lt"/>
              </a:rPr>
              <a:t>probabilités</a:t>
            </a:r>
            <a:r>
              <a:rPr lang="en-US" dirty="0">
                <a:ea typeface="+mn-lt"/>
                <a:cs typeface="+mn-lt"/>
              </a:rPr>
              <a:t>)</a:t>
            </a:r>
            <a:endParaRPr lang="en-US" dirty="0"/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endParaRPr lang="en-US" dirty="0"/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endParaRPr dirty="0">
              <a:ea typeface="Calibri"/>
              <a:cs typeface="Calibri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4754880" y="1097280"/>
            <a:ext cx="4114800" cy="4754880"/>
          </a:xfrm>
          <a:prstGeom prst="roundRect">
            <a:avLst/>
          </a:prstGeom>
          <a:solidFill>
            <a:srgbClr val="27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937760" y="1188720"/>
            <a:ext cx="3657600" cy="36933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>
              <a:defRPr sz="1800" b="1">
                <a:solidFill>
                  <a:srgbClr val="FF4757"/>
                </a:solidFill>
                <a:latin typeface="Calibri"/>
              </a:defRPr>
            </a:pPr>
            <a:r>
              <a:rPr dirty="0"/>
              <a:t> Système </a:t>
            </a:r>
            <a:r>
              <a:rPr dirty="0" err="1"/>
              <a:t>d'Alerte</a:t>
            </a:r>
            <a:endParaRPr lang="en-US" dirty="0" err="1">
              <a:ea typeface="Calibri"/>
              <a:cs typeface="Calibr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937760" y="1737360"/>
            <a:ext cx="3657600" cy="30623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rPr dirty="0" err="1"/>
              <a:t>needs_urgent_attention</a:t>
            </a:r>
            <a:r>
              <a:rPr dirty="0"/>
              <a:t> = True </a:t>
            </a:r>
            <a:r>
              <a:rPr dirty="0" err="1"/>
              <a:t>si</a:t>
            </a:r>
            <a:r>
              <a:rPr dirty="0"/>
              <a:t> :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rPr dirty="0"/>
              <a:t>  • </a:t>
            </a:r>
            <a:r>
              <a:rPr dirty="0" err="1"/>
              <a:t>Maladie</a:t>
            </a:r>
            <a:r>
              <a:rPr dirty="0"/>
              <a:t> critique/</a:t>
            </a:r>
            <a:r>
              <a:rPr dirty="0" err="1"/>
              <a:t>urgente</a:t>
            </a:r>
            <a:r>
              <a:rPr dirty="0"/>
              <a:t> </a:t>
            </a:r>
            <a:r>
              <a:rPr dirty="0" err="1"/>
              <a:t>détectée</a:t>
            </a:r>
            <a:endParaRPr dirty="0" err="1">
              <a:ea typeface="Calibri"/>
              <a:cs typeface="Calibri"/>
            </a:endParaRP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  • ET confidence &gt; </a:t>
            </a:r>
            <a:r>
              <a:rPr lang="en-US"/>
              <a:t>15</a:t>
            </a:r>
            <a:r>
              <a:rPr dirty="0"/>
              <a:t>%</a:t>
            </a:r>
            <a:endParaRPr dirty="0">
              <a:ea typeface="Calibri"/>
              <a:cs typeface="Calibri"/>
            </a:endParaRP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endParaRPr/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rPr dirty="0" err="1"/>
              <a:t>Seuil</a:t>
            </a:r>
            <a:r>
              <a:rPr dirty="0"/>
              <a:t> : URGENT_ATTENTION_THRESHOLD = </a:t>
            </a:r>
            <a:r>
              <a:rPr lang="en-US" dirty="0"/>
              <a:t>0.15</a:t>
            </a:r>
            <a:endParaRPr dirty="0">
              <a:ea typeface="Calibri"/>
              <a:cs typeface="Calibri"/>
            </a:endParaRP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endParaRPr/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rPr dirty="0"/>
              <a:t>Maladies </a:t>
            </a:r>
            <a:r>
              <a:rPr dirty="0" err="1"/>
              <a:t>surveillées</a:t>
            </a:r>
            <a:r>
              <a:rPr dirty="0"/>
              <a:t> :</a:t>
            </a:r>
            <a:endParaRPr dirty="0">
              <a:ea typeface="Calibri"/>
              <a:cs typeface="Calibri"/>
            </a:endParaRP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rPr dirty="0"/>
              <a:t>  🔴 </a:t>
            </a:r>
            <a:r>
              <a:rPr dirty="0" err="1"/>
              <a:t>Mélanome</a:t>
            </a:r>
            <a:r>
              <a:rPr dirty="0"/>
              <a:t> (critique)</a:t>
            </a:r>
            <a:endParaRPr dirty="0">
              <a:ea typeface="Calibri"/>
              <a:cs typeface="Calibri"/>
            </a:endParaRP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rPr dirty="0"/>
              <a:t>  🟠 </a:t>
            </a:r>
            <a:r>
              <a:rPr dirty="0" err="1"/>
              <a:t>Carcinome</a:t>
            </a:r>
            <a:r>
              <a:rPr dirty="0"/>
              <a:t> </a:t>
            </a:r>
            <a:r>
              <a:rPr dirty="0" err="1"/>
              <a:t>Basocellulaire</a:t>
            </a:r>
            <a:r>
              <a:rPr dirty="0"/>
              <a:t> (urgent)</a:t>
            </a:r>
            <a:endParaRPr dirty="0">
              <a:ea typeface="Calibri"/>
              <a:cs typeface="Calibri"/>
            </a:endParaRP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endParaRPr/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rPr lang="en-US" dirty="0"/>
              <a:t> </a:t>
            </a:r>
            <a:r>
              <a:rPr dirty="0"/>
              <a:t>Disclaimer </a:t>
            </a:r>
            <a:r>
              <a:rPr dirty="0" err="1"/>
              <a:t>automatique</a:t>
            </a:r>
            <a:r>
              <a:rPr dirty="0"/>
              <a:t> sur </a:t>
            </a:r>
            <a:r>
              <a:rPr dirty="0" err="1"/>
              <a:t>chaque</a:t>
            </a:r>
            <a:r>
              <a:rPr dirty="0"/>
              <a:t> </a:t>
            </a:r>
            <a:r>
              <a:rPr dirty="0" err="1"/>
              <a:t>résultat</a:t>
            </a:r>
            <a:endParaRPr dirty="0" err="1">
              <a:ea typeface="Calibri"/>
              <a:cs typeface="Calibri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77240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AAAAAA"/>
                </a:solidFill>
                <a:latin typeface="Calibri"/>
              </a:defRPr>
            </a:pPr>
            <a:r>
              <a:t>11/14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D2FF"/>
                </a:solidFill>
                <a:latin typeface="Calibri"/>
              </a:defRPr>
            </a:pPr>
            <a:r>
              <a:t>12 — Interface Streamlit : Onglet Peau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1097280"/>
            <a:ext cx="4114800" cy="2560320"/>
          </a:xfrm>
          <a:prstGeom prst="roundRect">
            <a:avLst/>
          </a:prstGeom>
          <a:solidFill>
            <a:srgbClr val="27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3657600" cy="36933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>
              <a:defRPr sz="1800" b="1">
                <a:solidFill>
                  <a:srgbClr val="00E676"/>
                </a:solidFill>
                <a:latin typeface="Calibri"/>
              </a:defRPr>
            </a:pPr>
            <a:r>
              <a:t> Entrée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737360"/>
            <a:ext cx="3657600" cy="112338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rPr dirty="0"/>
              <a:t> Upload image (JPG, PNG, BMP, </a:t>
            </a:r>
            <a:r>
              <a:rPr dirty="0" err="1"/>
              <a:t>WebP</a:t>
            </a:r>
            <a:r>
              <a:rPr dirty="0"/>
              <a:t>)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rPr dirty="0"/>
              <a:t> Capture </a:t>
            </a:r>
            <a:r>
              <a:rPr dirty="0" err="1"/>
              <a:t>caméra</a:t>
            </a:r>
            <a:r>
              <a:rPr dirty="0"/>
              <a:t> (</a:t>
            </a:r>
            <a:r>
              <a:rPr dirty="0" err="1"/>
              <a:t>st.camera_input</a:t>
            </a:r>
            <a:r>
              <a:rPr dirty="0"/>
              <a:t>)</a:t>
            </a:r>
            <a:endParaRPr dirty="0">
              <a:ea typeface="Calibri"/>
              <a:cs typeface="Calibri"/>
            </a:endParaRP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rPr dirty="0"/>
              <a:t> Slider : </a:t>
            </a:r>
            <a:r>
              <a:rPr dirty="0" err="1"/>
              <a:t>nombre</a:t>
            </a:r>
            <a:r>
              <a:rPr dirty="0"/>
              <a:t> de </a:t>
            </a:r>
            <a:r>
              <a:rPr dirty="0" err="1"/>
              <a:t>résultats</a:t>
            </a:r>
            <a:r>
              <a:rPr dirty="0"/>
              <a:t> (1–10)</a:t>
            </a:r>
            <a:endParaRPr dirty="0">
              <a:ea typeface="Calibri"/>
              <a:cs typeface="Calibri"/>
            </a:endParaRP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rPr dirty="0"/>
              <a:t>Toggle : confidences </a:t>
            </a:r>
            <a:r>
              <a:rPr dirty="0" err="1"/>
              <a:t>détaillées</a:t>
            </a:r>
            <a:endParaRPr dirty="0">
              <a:ea typeface="Calibri"/>
              <a:cs typeface="Calibri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4754880" y="1097280"/>
            <a:ext cx="4114800" cy="2560320"/>
          </a:xfrm>
          <a:prstGeom prst="roundRect">
            <a:avLst/>
          </a:prstGeom>
          <a:solidFill>
            <a:srgbClr val="27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937760" y="1188720"/>
            <a:ext cx="3657600" cy="36933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>
              <a:defRPr sz="1800" b="1">
                <a:solidFill>
                  <a:srgbClr val="00D2FF"/>
                </a:solidFill>
                <a:latin typeface="Calibri"/>
              </a:defRPr>
            </a:pPr>
            <a:r>
              <a:t> Sortie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37760" y="1737360"/>
            <a:ext cx="3657600" cy="167738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rPr dirty="0"/>
              <a:t> Diagnostic principal + </a:t>
            </a:r>
            <a:r>
              <a:rPr dirty="0" err="1"/>
              <a:t>confiance</a:t>
            </a:r>
            <a:endParaRPr lang="en-US" dirty="0">
              <a:ea typeface="Calibri"/>
              <a:cs typeface="Calibri"/>
            </a:endParaRP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Barre de progression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rPr dirty="0"/>
              <a:t> Code couleur </a:t>
            </a:r>
            <a:r>
              <a:rPr dirty="0" err="1"/>
              <a:t>sévérité</a:t>
            </a:r>
            <a:endParaRPr dirty="0">
              <a:ea typeface="Calibri"/>
              <a:cs typeface="Calibri"/>
            </a:endParaRP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rPr dirty="0"/>
              <a:t> Conseils </a:t>
            </a:r>
            <a:r>
              <a:rPr dirty="0" err="1"/>
              <a:t>médicaux</a:t>
            </a:r>
            <a:r>
              <a:rPr dirty="0"/>
              <a:t> par </a:t>
            </a:r>
            <a:r>
              <a:rPr dirty="0" err="1"/>
              <a:t>maladie</a:t>
            </a:r>
            <a:endParaRPr dirty="0">
              <a:ea typeface="Calibri"/>
              <a:cs typeface="Calibri"/>
            </a:endParaRP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rPr dirty="0"/>
              <a:t> Alerte </a:t>
            </a:r>
            <a:r>
              <a:rPr dirty="0" err="1"/>
              <a:t>urgente</a:t>
            </a:r>
            <a:r>
              <a:rPr dirty="0"/>
              <a:t> </a:t>
            </a:r>
            <a:r>
              <a:rPr dirty="0" err="1"/>
              <a:t>si</a:t>
            </a:r>
            <a:r>
              <a:rPr dirty="0"/>
              <a:t> </a:t>
            </a:r>
            <a:r>
              <a:rPr dirty="0" err="1"/>
              <a:t>nécessaire</a:t>
            </a:r>
            <a:endParaRPr dirty="0">
              <a:ea typeface="Calibri"/>
              <a:cs typeface="Calibri"/>
            </a:endParaRP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rPr dirty="0" err="1"/>
              <a:t>Autres</a:t>
            </a:r>
            <a:r>
              <a:rPr dirty="0"/>
              <a:t> </a:t>
            </a:r>
            <a:r>
              <a:rPr dirty="0" err="1"/>
              <a:t>candidats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expandeurs</a:t>
            </a:r>
            <a:endParaRPr dirty="0">
              <a:ea typeface="Calibri"/>
              <a:cs typeface="Calibri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77240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AAAAAA"/>
                </a:solidFill>
                <a:latin typeface="Calibri"/>
              </a:defRPr>
            </a:pPr>
            <a:r>
              <a:t>12/14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D2FF"/>
                </a:solidFill>
                <a:latin typeface="Calibri"/>
              </a:defRPr>
            </a:pPr>
            <a:r>
              <a:t>13 — Résultats Attendus &amp; Métriques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1097280"/>
            <a:ext cx="4114800" cy="2743200"/>
          </a:xfrm>
          <a:prstGeom prst="roundRect">
            <a:avLst/>
          </a:prstGeom>
          <a:solidFill>
            <a:srgbClr val="27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3657600" cy="36933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>
              <a:defRPr sz="1800" b="1">
                <a:solidFill>
                  <a:srgbClr val="00E676"/>
                </a:solidFill>
                <a:latin typeface="Calibri"/>
              </a:defRPr>
            </a:pPr>
            <a:r>
              <a:rPr dirty="0" err="1"/>
              <a:t>Métriques</a:t>
            </a:r>
            <a:r>
              <a:rPr dirty="0"/>
              <a:t> </a:t>
            </a:r>
            <a:r>
              <a:rPr dirty="0" err="1"/>
              <a:t>suivies</a:t>
            </a:r>
            <a:endParaRPr lang="en-US" dirty="0" err="1">
              <a:ea typeface="Calibri"/>
              <a:cs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57200" y="1737360"/>
            <a:ext cx="3657600" cy="112338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Train Loss / Val Loss par epoch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Train Accuracy / Val Accuracy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rPr dirty="0" err="1"/>
              <a:t>Sauvegarde</a:t>
            </a:r>
            <a:r>
              <a:rPr dirty="0"/>
              <a:t> dans </a:t>
            </a:r>
            <a:r>
              <a:rPr dirty="0" err="1"/>
              <a:t>training_history.json</a:t>
            </a:r>
            <a:endParaRPr dirty="0" err="1">
              <a:ea typeface="Calibri"/>
              <a:cs typeface="Calibri"/>
            </a:endParaRP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rPr dirty="0"/>
              <a:t>Best </a:t>
            </a:r>
            <a:r>
              <a:rPr dirty="0" err="1"/>
              <a:t>val_acc</a:t>
            </a:r>
            <a:r>
              <a:rPr dirty="0"/>
              <a:t> </a:t>
            </a:r>
            <a:r>
              <a:rPr dirty="0" err="1"/>
              <a:t>sauvegardé</a:t>
            </a:r>
            <a:r>
              <a:rPr dirty="0"/>
              <a:t> </a:t>
            </a:r>
            <a:r>
              <a:rPr dirty="0" err="1"/>
              <a:t>automatiquement</a:t>
            </a:r>
            <a:endParaRPr dirty="0" err="1">
              <a:ea typeface="Calibri"/>
              <a:cs typeface="Calibri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4754880" y="1097280"/>
            <a:ext cx="4114800" cy="2743200"/>
          </a:xfrm>
          <a:prstGeom prst="roundRect">
            <a:avLst/>
          </a:prstGeom>
          <a:solidFill>
            <a:srgbClr val="27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937760" y="1188720"/>
            <a:ext cx="3657600" cy="36933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>
              <a:defRPr sz="1800" b="1">
                <a:solidFill>
                  <a:srgbClr val="00D2FF"/>
                </a:solidFill>
                <a:latin typeface="Calibri"/>
              </a:defRPr>
            </a:pPr>
            <a:r>
              <a:rPr dirty="0"/>
              <a:t> Points forts du </a:t>
            </a:r>
            <a:r>
              <a:rPr dirty="0" err="1"/>
              <a:t>système</a:t>
            </a:r>
            <a:endParaRPr lang="en-US" dirty="0" err="1">
              <a:ea typeface="Calibri"/>
              <a:cs typeface="Calibr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937760" y="1737360"/>
            <a:ext cx="3657600" cy="1400383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rPr dirty="0"/>
              <a:t>Transfer learning = peu de données </a:t>
            </a:r>
            <a:r>
              <a:rPr dirty="0" err="1"/>
              <a:t>nécessaires</a:t>
            </a:r>
            <a:endParaRPr lang="en-US" dirty="0" err="1">
              <a:ea typeface="Calibri"/>
              <a:cs typeface="Calibri"/>
            </a:endParaRP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rPr dirty="0"/>
              <a:t> </a:t>
            </a:r>
            <a:r>
              <a:rPr dirty="0" err="1"/>
              <a:t>stabilité</a:t>
            </a:r>
            <a:r>
              <a:rPr dirty="0"/>
              <a:t> de </a:t>
            </a:r>
            <a:r>
              <a:rPr dirty="0" err="1"/>
              <a:t>l'entraînement</a:t>
            </a:r>
            <a:endParaRPr dirty="0" err="1">
              <a:ea typeface="Calibri"/>
              <a:cs typeface="Calibri"/>
            </a:endParaRP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rPr dirty="0"/>
              <a:t>Sampler </a:t>
            </a:r>
            <a:r>
              <a:rPr dirty="0" err="1"/>
              <a:t>pondéré</a:t>
            </a:r>
            <a:r>
              <a:rPr dirty="0"/>
              <a:t> = </a:t>
            </a:r>
            <a:r>
              <a:rPr dirty="0" err="1"/>
              <a:t>robustesse</a:t>
            </a:r>
            <a:r>
              <a:rPr dirty="0"/>
              <a:t> au </a:t>
            </a:r>
            <a:r>
              <a:rPr dirty="0" err="1"/>
              <a:t>déséquilibre</a:t>
            </a:r>
            <a:endParaRPr dirty="0" err="1">
              <a:ea typeface="Calibri"/>
              <a:cs typeface="Calibri"/>
            </a:endParaRP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rPr dirty="0"/>
              <a:t>Early stopping = pas de </a:t>
            </a:r>
            <a:r>
              <a:rPr dirty="0" err="1"/>
              <a:t>surapprentissage</a:t>
            </a:r>
            <a:endParaRPr dirty="0" err="1">
              <a:ea typeface="Calibri"/>
              <a:cs typeface="Calibri"/>
            </a:endParaRP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rPr dirty="0"/>
              <a:t>Lazy loading = </a:t>
            </a:r>
            <a:r>
              <a:rPr dirty="0" err="1"/>
              <a:t>démarrage</a:t>
            </a:r>
            <a:r>
              <a:rPr dirty="0"/>
              <a:t> </a:t>
            </a:r>
            <a:r>
              <a:rPr dirty="0" err="1"/>
              <a:t>rapide</a:t>
            </a:r>
            <a:r>
              <a:rPr dirty="0"/>
              <a:t> de </a:t>
            </a:r>
            <a:r>
              <a:rPr dirty="0" err="1"/>
              <a:t>l'app</a:t>
            </a:r>
            <a:endParaRPr dirty="0" err="1">
              <a:ea typeface="Calibri"/>
              <a:cs typeface="Calibri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77240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AAAAAA"/>
                </a:solidFill>
                <a:latin typeface="Calibri"/>
              </a:defRPr>
            </a:pPr>
            <a:r>
              <a:t>13/14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282117" y="-253670"/>
            <a:ext cx="137072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668730" y="422146"/>
            <a:ext cx="484026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7532611" y="655140"/>
            <a:ext cx="515604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7017482" y="0"/>
            <a:ext cx="2126518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7" name="Isosceles Triangle 16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982258" y="6115501"/>
            <a:ext cx="1120884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22EBB58-A84A-13E7-DC02-ECB23A61E3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600" y="1977263"/>
            <a:ext cx="8178799" cy="2903473"/>
          </a:xfrm>
          <a:prstGeom prst="rect">
            <a:avLst/>
          </a:prstGeom>
          <a:ln>
            <a:noFill/>
          </a:ln>
        </p:spPr>
      </p:pic>
      <p:sp>
        <p:nvSpPr>
          <p:cNvPr id="19" name="Isosceles Triangle 18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703060" y="6453143"/>
            <a:ext cx="611177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585790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282117" y="-253670"/>
            <a:ext cx="137072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668730" y="422146"/>
            <a:ext cx="484026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7532611" y="655140"/>
            <a:ext cx="515604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7017482" y="0"/>
            <a:ext cx="2126518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" name="Isosceles Triangle 17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982258" y="6115501"/>
            <a:ext cx="1120884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99AFE25-E6D7-E1A9-CB62-3B374E8407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600" y="1905698"/>
            <a:ext cx="8178799" cy="3046603"/>
          </a:xfrm>
          <a:prstGeom prst="rect">
            <a:avLst/>
          </a:prstGeom>
          <a:ln>
            <a:noFill/>
          </a:ln>
        </p:spPr>
      </p:pic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703060" y="6453143"/>
            <a:ext cx="611177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788127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282117" y="-253670"/>
            <a:ext cx="137072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668730" y="422146"/>
            <a:ext cx="484026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7532611" y="655140"/>
            <a:ext cx="515604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7017482" y="0"/>
            <a:ext cx="2126518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7" name="Isosceles Triangle 16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982258" y="6115501"/>
            <a:ext cx="1120884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D038B09-21D3-F256-B2CF-2E2AF313FA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600" y="1977263"/>
            <a:ext cx="8178799" cy="2903473"/>
          </a:xfrm>
          <a:prstGeom prst="rect">
            <a:avLst/>
          </a:prstGeom>
          <a:ln>
            <a:noFill/>
          </a:ln>
        </p:spPr>
      </p:pic>
      <p:sp>
        <p:nvSpPr>
          <p:cNvPr id="19" name="Isosceles Triangle 18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703060" y="6453143"/>
            <a:ext cx="611177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440214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282117" y="-253670"/>
            <a:ext cx="137072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668730" y="422146"/>
            <a:ext cx="484026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7532611" y="655140"/>
            <a:ext cx="515604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7017482" y="0"/>
            <a:ext cx="2126518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7" name="Isosceles Triangle 16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982258" y="6115501"/>
            <a:ext cx="1120884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05F9CC3-EFBB-9C9C-5AE0-AE12B5B452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600" y="1977263"/>
            <a:ext cx="8178799" cy="2903473"/>
          </a:xfrm>
          <a:prstGeom prst="rect">
            <a:avLst/>
          </a:prstGeom>
          <a:ln>
            <a:noFill/>
          </a:ln>
        </p:spPr>
      </p:pic>
      <p:sp>
        <p:nvSpPr>
          <p:cNvPr id="19" name="Isosceles Triangle 18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703060" y="6453143"/>
            <a:ext cx="611177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418102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282117" y="-253670"/>
            <a:ext cx="137072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668730" y="422146"/>
            <a:ext cx="484026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7532611" y="655140"/>
            <a:ext cx="515604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7017482" y="0"/>
            <a:ext cx="2126518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7" name="Isosceles Triangle 16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982258" y="6115501"/>
            <a:ext cx="1120884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A06DEB2-55C8-14B0-F294-91EC5DAC23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8667" y="643467"/>
            <a:ext cx="5926664" cy="5571065"/>
          </a:xfrm>
          <a:prstGeom prst="rect">
            <a:avLst/>
          </a:prstGeom>
          <a:ln>
            <a:noFill/>
          </a:ln>
        </p:spPr>
      </p:pic>
      <p:sp>
        <p:nvSpPr>
          <p:cNvPr id="19" name="Isosceles Triangle 18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703060" y="6453143"/>
            <a:ext cx="611177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288487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D2FF"/>
                </a:solidFill>
                <a:latin typeface="Calibri"/>
              </a:defRPr>
            </a:pPr>
            <a:r>
              <a:t>14 — Conclusion &amp; Perspectives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1156811"/>
            <a:ext cx="4114800" cy="3334226"/>
          </a:xfrm>
          <a:prstGeom prst="roundRect">
            <a:avLst/>
          </a:prstGeom>
          <a:solidFill>
            <a:srgbClr val="27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3657600" cy="36933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>
              <a:defRPr sz="1800" b="1">
                <a:solidFill>
                  <a:srgbClr val="00E676"/>
                </a:solidFill>
                <a:latin typeface="Calibri"/>
              </a:defRPr>
            </a:pPr>
            <a:r>
              <a:rPr dirty="0"/>
              <a:t> Ce </a:t>
            </a:r>
            <a:r>
              <a:rPr dirty="0" err="1"/>
              <a:t>qu'on</a:t>
            </a:r>
            <a:r>
              <a:rPr dirty="0"/>
              <a:t> a </a:t>
            </a:r>
            <a:r>
              <a:rPr dirty="0" err="1"/>
              <a:t>réalisé</a:t>
            </a:r>
            <a:endParaRPr lang="en-US" dirty="0" err="1">
              <a:ea typeface="Calibri"/>
              <a:cs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57200" y="1737360"/>
            <a:ext cx="3657600" cy="2154436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rPr dirty="0" err="1"/>
              <a:t>Classificateur</a:t>
            </a:r>
            <a:r>
              <a:rPr dirty="0"/>
              <a:t> 10 maladies </a:t>
            </a:r>
            <a:r>
              <a:rPr dirty="0" err="1"/>
              <a:t>cutanées</a:t>
            </a:r>
            <a:endParaRPr lang="en-US" dirty="0" err="1">
              <a:ea typeface="Calibri"/>
              <a:cs typeface="Calibri"/>
            </a:endParaRP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rPr lang="en-US"/>
              <a:t>Model DL </a:t>
            </a:r>
            <a:r>
              <a:rPr dirty="0"/>
              <a:t>+ Transfer Learning 2 phases</a:t>
            </a:r>
            <a:endParaRPr dirty="0">
              <a:ea typeface="Calibri"/>
              <a:cs typeface="Calibri"/>
            </a:endParaRP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rPr dirty="0"/>
              <a:t>Gestion du </a:t>
            </a:r>
            <a:r>
              <a:rPr dirty="0" err="1"/>
              <a:t>déséquilibre</a:t>
            </a:r>
            <a:r>
              <a:rPr dirty="0"/>
              <a:t> (sampler + loss)</a:t>
            </a:r>
            <a:endParaRPr dirty="0">
              <a:ea typeface="Calibri"/>
              <a:cs typeface="Calibri"/>
            </a:endParaRP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rPr dirty="0"/>
              <a:t>Système </a:t>
            </a:r>
            <a:r>
              <a:rPr dirty="0" err="1"/>
              <a:t>d'alerte</a:t>
            </a:r>
            <a:r>
              <a:rPr dirty="0"/>
              <a:t> urgence </a:t>
            </a:r>
            <a:r>
              <a:rPr dirty="0" err="1"/>
              <a:t>automatique</a:t>
            </a:r>
            <a:endParaRPr dirty="0" err="1">
              <a:ea typeface="Calibri"/>
              <a:cs typeface="Calibri"/>
            </a:endParaRP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rPr dirty="0"/>
              <a:t>Interface </a:t>
            </a:r>
            <a:r>
              <a:rPr dirty="0" err="1"/>
              <a:t>Streamlit</a:t>
            </a:r>
            <a:r>
              <a:rPr dirty="0"/>
              <a:t> intuitive</a:t>
            </a:r>
            <a:endParaRPr dirty="0">
              <a:ea typeface="Calibri"/>
              <a:cs typeface="Calibri"/>
            </a:endParaRP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rPr dirty="0" err="1"/>
              <a:t>Intégration</a:t>
            </a:r>
            <a:r>
              <a:rPr dirty="0"/>
              <a:t> dans </a:t>
            </a:r>
            <a:r>
              <a:rPr dirty="0" err="1"/>
              <a:t>l'agent</a:t>
            </a:r>
            <a:r>
              <a:rPr dirty="0"/>
              <a:t> </a:t>
            </a:r>
            <a:r>
              <a:rPr dirty="0" err="1"/>
              <a:t>médical</a:t>
            </a:r>
            <a:r>
              <a:rPr dirty="0"/>
              <a:t> </a:t>
            </a:r>
            <a:r>
              <a:rPr dirty="0" err="1"/>
              <a:t>existant</a:t>
            </a:r>
            <a:r>
              <a:rPr lang="en-US" dirty="0" err="1"/>
              <a:t>Ensemble</a:t>
            </a:r>
            <a:r>
              <a:rPr lang="en-US" dirty="0"/>
              <a:t> de 3 CNNs (</a:t>
            </a:r>
            <a:r>
              <a:rPr lang="en-US" dirty="0" err="1"/>
              <a:t>EfficientNet</a:t>
            </a:r>
            <a:r>
              <a:rPr lang="en-US" dirty="0"/>
              <a:t>, </a:t>
            </a:r>
            <a:r>
              <a:rPr lang="en-US" dirty="0" err="1"/>
              <a:t>ResNet</a:t>
            </a:r>
            <a:r>
              <a:rPr lang="en-US" dirty="0"/>
              <a:t>…)</a:t>
            </a:r>
            <a:endParaRPr lang="en-US" dirty="0">
              <a:solidFill>
                <a:srgbClr val="000000"/>
              </a:solidFill>
            </a:endParaRP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rPr lang="en-US" dirty="0" err="1"/>
              <a:t>Ajout</a:t>
            </a:r>
            <a:r>
              <a:rPr lang="en-US" dirty="0"/>
              <a:t> d'un VLM (BLIP) pour </a:t>
            </a:r>
            <a:r>
              <a:rPr lang="en-US" dirty="0" err="1"/>
              <a:t>l'explication</a:t>
            </a:r>
            <a:endParaRPr dirty="0" err="1"/>
          </a:p>
        </p:txBody>
      </p:sp>
      <p:sp>
        <p:nvSpPr>
          <p:cNvPr id="6" name="Rounded Rectangle 5"/>
          <p:cNvSpPr/>
          <p:nvPr/>
        </p:nvSpPr>
        <p:spPr>
          <a:xfrm>
            <a:off x="4754880" y="1097280"/>
            <a:ext cx="4114800" cy="2560320"/>
          </a:xfrm>
          <a:prstGeom prst="roundRect">
            <a:avLst/>
          </a:prstGeom>
          <a:solidFill>
            <a:srgbClr val="27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937760" y="1188720"/>
            <a:ext cx="3657600" cy="36933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>
              <a:defRPr sz="1800" b="1">
                <a:solidFill>
                  <a:srgbClr val="7C4DFF"/>
                </a:solidFill>
                <a:latin typeface="Calibri"/>
              </a:defRPr>
            </a:pPr>
            <a:r>
              <a:t> Perspectives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37760" y="1737360"/>
            <a:ext cx="3657600" cy="112338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rPr lang="en-US" dirty="0"/>
              <a:t>Plus </a:t>
            </a:r>
            <a:r>
              <a:rPr lang="en-US" dirty="0" err="1"/>
              <a:t>d'ensemble</a:t>
            </a:r>
            <a:r>
              <a:rPr dirty="0"/>
              <a:t> de </a:t>
            </a:r>
            <a:r>
              <a:rPr lang="en-US" dirty="0"/>
              <a:t> </a:t>
            </a:r>
            <a:r>
              <a:rPr dirty="0"/>
              <a:t>CNNs </a:t>
            </a:r>
            <a:endParaRPr lang="en-US" dirty="0">
              <a:ea typeface="Calibri"/>
              <a:cs typeface="Calibri"/>
            </a:endParaRP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rPr dirty="0"/>
              <a:t>Plus de classes / datasets </a:t>
            </a:r>
            <a:r>
              <a:rPr dirty="0" err="1"/>
              <a:t>médicaux</a:t>
            </a:r>
            <a:endParaRPr dirty="0" err="1">
              <a:ea typeface="Calibri"/>
              <a:cs typeface="Calibri"/>
            </a:endParaRP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rPr dirty="0"/>
              <a:t>Validation </a:t>
            </a:r>
            <a:r>
              <a:rPr dirty="0" err="1"/>
              <a:t>clinique</a:t>
            </a:r>
            <a:r>
              <a:rPr dirty="0"/>
              <a:t> avec des </a:t>
            </a:r>
            <a:r>
              <a:rPr dirty="0" err="1"/>
              <a:t>dermatologues</a:t>
            </a:r>
            <a:endParaRPr dirty="0" err="1">
              <a:ea typeface="Calibri"/>
              <a:cs typeface="Calibri"/>
            </a:endParaRP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endParaRPr lang="en-US" dirty="0">
              <a:ea typeface="Calibri"/>
              <a:cs typeface="Calibri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57200" y="62179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D2FF"/>
                </a:solidFill>
                <a:latin typeface="Calibri"/>
              </a:defRPr>
            </a:pPr>
            <a:r>
              <a:t>Merci ! Des questions ? 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AAAAAA"/>
                </a:solidFill>
                <a:latin typeface="Calibri"/>
              </a:defRPr>
            </a:pPr>
            <a:r>
              <a:t>14/14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On-screen Show (4:3)</PresentationFormat>
  <Slides>20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1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revision>331</cp:revision>
  <dcterms:created xsi:type="dcterms:W3CDTF">2013-01-27T09:14:16Z</dcterms:created>
  <dcterms:modified xsi:type="dcterms:W3CDTF">2026-03-31T02:41:09Z</dcterms:modified>
  <cp:category/>
</cp:coreProperties>
</file>